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69" r:id="rId7"/>
    <p:sldId id="263" r:id="rId8"/>
    <p:sldId id="270" r:id="rId9"/>
    <p:sldId id="273" r:id="rId10"/>
    <p:sldId id="264" r:id="rId11"/>
    <p:sldId id="271" r:id="rId12"/>
    <p:sldId id="266" r:id="rId13"/>
    <p:sldId id="272" r:id="rId14"/>
    <p:sldId id="267" r:id="rId15"/>
    <p:sldId id="265" r:id="rId16"/>
    <p:sldId id="268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68A9D-32D2-4E5D-A460-FFC103CDCA2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2FB7E-39F1-4566-B5DE-18ED31E4AC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17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dirty="0"/>
              <a:t>Hello everyone, today I’m going to present my analysis on spatiotemporal variations in global ocean profiles using ARGO data.</a:t>
            </a:r>
          </a:p>
          <a:p>
            <a:r>
              <a:rPr lang="en-US" altLang="zh-TW" b="0" dirty="0"/>
              <a:t>This project focuses on understanding large-scale patterns in ocean temperature and salinity profiles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3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dataset comes from ARGO. In this analysis, I used about 49,576 profiles collected during 2020. 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And to begin with I looked at the structure of temperature &amp; salinity profiles. From the first figure, we can see a clear vertical structure: temperature changes much more dramatically near the surface, and deeper water is relatively stable. Salinity also changes with depth, but its structure is more subtle and less uniform than temperature.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And I also plot the temperature-salinity plot, it suggests that the ocean is not varying randomly. It actually reflects distinct water-mass structure and strong surface-to-deep stratification.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I also mapped the geographic distribution of profiles. But because of the limitation of time, I will skip several parts of my analysis. But I have made those slides, so feel free to ask me any question after the presentation.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084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Here I’m showing the spatial distribution of the ARGO profiles in my dataset.</a:t>
            </a:r>
            <a:br>
              <a:rPr lang="en-US" altLang="zh-TW" dirty="0"/>
            </a:br>
            <a:r>
              <a:rPr lang="en-US" altLang="zh-TW" dirty="0"/>
              <a:t>I used about 49,500 profiles from 2020, and each point marks the location of one profile.</a:t>
            </a:r>
            <a:br>
              <a:rPr lang="en-US" altLang="zh-TW" dirty="0"/>
            </a:br>
            <a:r>
              <a:rPr lang="en-US" altLang="zh-TW" dirty="0"/>
              <a:t>The color represents latitude, mainly to make the large-scale spatial pattern easier to see.</a:t>
            </a:r>
            <a:br>
              <a:rPr lang="en-US" altLang="zh-TW" dirty="0"/>
            </a:br>
            <a:r>
              <a:rPr lang="en-US" altLang="zh-TW" dirty="0"/>
              <a:t>Overall, we can see that the data cover most major ocean basins quite well, which makes this dataset suitable for analyzing broad global ocean </a:t>
            </a:r>
            <a:r>
              <a:rPr lang="en-US" altLang="zh-TW" dirty="0" err="1"/>
              <a:t>variabilit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405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 study these patterns, I applied five statistical methods, each answering a different question. Including PCA, CCA, SIR, MCD, and support points.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PCA is for dimension reduction, since the original profile is a 100-dimensional data, which contains many redundant information. But because this topic is relatively easy, so I will skip this part for now. But I will include the conclusion at the end.</a:t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dirty="0"/>
              <a:t>Now, ‘m going to move on to the next methodology, Canonical Component Analysis.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1788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So here,</a:t>
            </a:r>
            <a:r>
              <a:rPr lang="zh-TW" altLang="en-US" dirty="0"/>
              <a:t> </a:t>
            </a:r>
            <a:r>
              <a:rPr lang="en-US" altLang="zh-TW" dirty="0"/>
              <a:t>we compress the data into several principle</a:t>
            </a:r>
            <a:r>
              <a:rPr lang="zh-TW" altLang="en-US" dirty="0"/>
              <a:t> </a:t>
            </a:r>
            <a:r>
              <a:rPr lang="en-US" altLang="zh-TW" dirty="0"/>
              <a:t>components,</a:t>
            </a:r>
            <a:r>
              <a:rPr lang="zh-TW" altLang="en-US" dirty="0"/>
              <a:t> </a:t>
            </a:r>
            <a:r>
              <a:rPr lang="en-US" altLang="zh-TW" dirty="0"/>
              <a:t>and use the mean to add or subtract the PCs, to visualize the potential meaning of the component.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As we can see here,</a:t>
            </a:r>
            <a:r>
              <a:rPr lang="zh-TW" altLang="en-US" dirty="0"/>
              <a:t> </a:t>
            </a:r>
            <a:r>
              <a:rPr lang="en-US" altLang="zh-TW" dirty="0"/>
              <a:t>the first PC of temperature capture the upper-ocean temperature.</a:t>
            </a:r>
            <a:r>
              <a:rPr lang="zh-TW" altLang="en-US" dirty="0"/>
              <a:t> </a:t>
            </a:r>
            <a:r>
              <a:rPr lang="en-US" altLang="zh-TW" dirty="0"/>
              <a:t>And similarly, the third PC of salinity</a:t>
            </a:r>
            <a:r>
              <a:rPr lang="zh-TW" altLang="en-US" dirty="0"/>
              <a:t> </a:t>
            </a:r>
            <a:r>
              <a:rPr lang="en-US" altLang="zh-TW" dirty="0"/>
              <a:t>seems more complex,</a:t>
            </a:r>
            <a:r>
              <a:rPr lang="zh-TW" altLang="en-US" dirty="0"/>
              <a:t> </a:t>
            </a:r>
            <a:r>
              <a:rPr lang="en-US" altLang="zh-TW" dirty="0"/>
              <a:t>but mapping it on map,</a:t>
            </a:r>
            <a:r>
              <a:rPr lang="zh-TW" altLang="en-US" dirty="0"/>
              <a:t> </a:t>
            </a:r>
            <a:r>
              <a:rPr lang="en-US" altLang="zh-TW" dirty="0"/>
              <a:t>we can see PC3 might be the basin-scale regional features.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70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Unlike PCA, which looks at variation within one dataset, CCA looks for linear combinations of temperature and salinity that are maximally correlated.</a:t>
            </a:r>
          </a:p>
          <a:p>
            <a:br>
              <a:rPr lang="en-US" altLang="zh-TW" sz="1200" dirty="0"/>
            </a:br>
            <a:r>
              <a:rPr lang="en-US" altLang="zh-TW" sz="1200" dirty="0"/>
              <a:t>The first canonical component reveals a very clear large-scale pattern in the Pacific. It separates warm tropical and subtropical profiles from cold high-latitude profiles. And as you can see in the middle plot, The temperature contrast is strongest in the upper ocean.</a:t>
            </a:r>
            <a:br>
              <a:rPr lang="en-US" altLang="zh-TW" sz="1200" dirty="0"/>
            </a:br>
            <a:br>
              <a:rPr lang="en-US" altLang="zh-TW" sz="1200" dirty="0"/>
            </a:br>
            <a:r>
              <a:rPr lang="en-US" altLang="zh-TW" sz="1200" dirty="0"/>
              <a:t>For salinity, the pattern is more complex. It is not simply a fresh-versus-salty contrast. Instead, it reflects differences in upper-to-intermediate salinity stratification.</a:t>
            </a:r>
          </a:p>
          <a:p>
            <a:endParaRPr lang="en-US" altLang="zh-TW" sz="1200" dirty="0"/>
          </a:p>
          <a:p>
            <a:r>
              <a:rPr lang="en-US" altLang="zh-TW" sz="1200" dirty="0"/>
              <a:t>The first canonical correlation is 0.888, which is quite strong. This suggests that temperature and salinity are not changing independently, but are part of a coherent basin-scale ocean structure.”</a:t>
            </a:r>
            <a:br>
              <a:rPr lang="en-US" altLang="zh-TW" sz="1200" dirty="0"/>
            </a:br>
            <a:endParaRPr lang="en-US" altLang="zh-TW" sz="1200" dirty="0"/>
          </a:p>
          <a:p>
            <a:r>
              <a:rPr lang="en-US" altLang="zh-TW" sz="1200" dirty="0"/>
              <a:t>(We used </a:t>
            </a:r>
            <a:r>
              <a:rPr lang="en-US" altLang="zh-TW" sz="1200" b="1" dirty="0"/>
              <a:t>q = 4</a:t>
            </a:r>
            <a:r>
              <a:rPr lang="en-US" altLang="zh-TW" sz="1200" dirty="0"/>
              <a:t> PCs before CCA to retain the dominant profile structure while excluding noisier higher-order variation, giving a mode that was both strong and physically interpretable.)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99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80D3D-77ED-A36A-5AC1-75F00150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F9AD1A3-EEE6-FEB0-29E9-CD46A4621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12FC5A-F746-FCEF-9A43-34E27B899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06573E-6557-B7E8-0991-3ABF2A648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206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27757-BD57-BCD5-6EF5-5CF7B7C8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3118229-34F2-F7FD-AC40-A49886160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2114167-DF1E-C66C-4319-3D1E7E307A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This slide illustrates the basic idea of Canonical Correlation Analysis, or CCA.</a:t>
                </a:r>
              </a:p>
              <a:p>
                <a:r>
                  <a:rPr lang="en-US" altLang="zh-TW" dirty="0"/>
                  <a:t>Here, we start with two sets of variables, Xa and </a:t>
                </a:r>
                <a:r>
                  <a:rPr lang="en-US" altLang="zh-TW" dirty="0" err="1"/>
                  <a:t>Xb</a:t>
                </a:r>
                <a:r>
                  <a:rPr lang="en-US" altLang="zh-TW" dirty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In my project, you can think of these as two multivariate profile datasets, for example temperature and salinity.</a:t>
                </a:r>
              </a:p>
              <a:p>
                <a:r>
                  <a:rPr lang="en-US" altLang="zh-TW" dirty="0"/>
                  <a:t>Each dataset may have many dimensions, so instead of looking at all variables directly, CCA looks for linear combinations of the variables in each set.</a:t>
                </a:r>
              </a:p>
              <a:p>
                <a:r>
                  <a:rPr lang="en-US" altLang="zh-TW" dirty="0"/>
                  <a:t>That is what the matrices </a:t>
                </a:r>
                <a:r>
                  <a:rPr lang="en-US" altLang="zh-TW" dirty="0" err="1"/>
                  <a:t>Wa</a:t>
                </a:r>
                <a:r>
                  <a:rPr lang="en-US" altLang="zh-TW" dirty="0"/>
                  <a:t> and Wb represent. They project the original data into lower-dimensional directions.</a:t>
                </a:r>
              </a:p>
              <a:p>
                <a:r>
                  <a:rPr lang="en-US" altLang="zh-TW" dirty="0"/>
                  <a:t>After projection, we get XaWa and </a:t>
                </a:r>
                <a:r>
                  <a:rPr lang="en-US" altLang="zh-TW" dirty="0" err="1"/>
                  <a:t>XbWb</a:t>
                </a:r>
                <a:r>
                  <a:rPr lang="en-US" altLang="zh-TW" dirty="0"/>
                  <a:t>, which are the canonical variables.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The goal is to find directions so that these projected variables are as strongly related as possible.</a:t>
                </a:r>
              </a:p>
              <a:p>
                <a:br>
                  <a:rPr lang="en-US" altLang="zh-TW" dirty="0"/>
                </a:br>
                <a:br>
                  <a:rPr lang="en-US" altLang="zh-TW" dirty="0"/>
                </a:br>
                <a:br>
                  <a:rPr lang="en-US" altLang="zh-TW" dirty="0"/>
                </a:br>
                <a:r>
                  <a:rPr lang="en-US" altLang="zh-TW" dirty="0"/>
                  <a:t>“In this slide,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/>
                  <a:t>represent two datasets measured on the same set of samples.</a:t>
                </a:r>
                <a:br>
                  <a:rPr lang="en-US" altLang="zh-TW" dirty="0"/>
                </a:br>
                <a:r>
                  <a:rPr lang="en-US" altLang="zh-TW" dirty="0"/>
                  <a:t>For example, in my project,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can represent temperature profiles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/>
                  <a:t>can represent salinity profiles.</a:t>
                </a:r>
                <a:br>
                  <a:rPr lang="en-US" altLang="zh-TW" dirty="0"/>
                </a:br>
                <a:r>
                  <a:rPr lang="en-US" altLang="zh-TW" dirty="0"/>
                  <a:t>Each row corresponds to one ocean profile, and each column corresponds to one variable, such as measurements at different depths or reduced features extracted from the original profiles.</a:t>
                </a:r>
              </a:p>
              <a:p>
                <a:r>
                  <a:rPr lang="en-US" altLang="zh-TW" dirty="0"/>
                  <a:t>The arrows 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𝑢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ar-AE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𝑣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ar-AE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𝑢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altLang="zh-TW" dirty="0"/>
                  <a:t>,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𝑣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/>
                  <a:t>represent directions in the original data spaces.</a:t>
                </a:r>
                <a:br>
                  <a:rPr lang="en-US" altLang="zh-TW" dirty="0"/>
                </a:br>
                <a:r>
                  <a:rPr lang="en-US" altLang="zh-TW" dirty="0"/>
                  <a:t>These directions are not single variables. Instead, each direction represents a pattern formed by combining multiple variables together.</a:t>
                </a:r>
                <a:br>
                  <a:rPr lang="en-US" altLang="zh-TW" dirty="0"/>
                </a:br>
                <a:r>
                  <a:rPr lang="en-US" altLang="zh-TW" dirty="0"/>
                  <a:t>For example, one direction in the temperature space might represent a profile pattern with a warmer surface and a rapid decline with depth. Another direction might represent an overall colder profile that changes more gradually with depth.</a:t>
                </a:r>
                <a:br>
                  <a:rPr lang="en-US" altLang="zh-TW" dirty="0"/>
                </a:br>
                <a:r>
                  <a:rPr lang="en-US" altLang="zh-TW" dirty="0"/>
                  <a:t>So these directions correspond to interpretable modes of variation in the data.</a:t>
                </a:r>
              </a:p>
              <a:p>
                <a:r>
                  <a:rPr lang="en-US" altLang="zh-TW" dirty="0"/>
                  <a:t>The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/>
                  <a:t>are the weights used to define those directions more systematically.</a:t>
                </a:r>
                <a:br>
                  <a:rPr lang="en-US" altLang="zh-TW" dirty="0"/>
                </a:br>
                <a:r>
                  <a:rPr lang="en-US" altLang="zh-TW" dirty="0"/>
                  <a:t>They tell us how much each original variable contributes to a new combined feature.</a:t>
                </a:r>
                <a:br>
                  <a:rPr lang="en-US" altLang="zh-TW" dirty="0"/>
                </a:br>
                <a:r>
                  <a:rPr lang="en-US" altLang="zh-TW" dirty="0"/>
                  <a:t>So in the temperature case, a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/>
                  <a:t>might place more weight on upper-ocean measurements and less weight on deep-ocean measurements, meaning that this canonical direction is especially sensitive to surface structure.</a:t>
                </a:r>
                <a:br>
                  <a:rPr lang="en-US" altLang="zh-TW" dirty="0"/>
                </a:br>
                <a:r>
                  <a:rPr lang="en-US" altLang="zh-TW" dirty="0"/>
                  <a:t>In salinity, a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/>
                  <a:t>might capture a pattern such as fresher near-surface water but more stable salinity at depth.</a:t>
                </a:r>
              </a:p>
              <a:p>
                <a:r>
                  <a:rPr lang="en-US" altLang="zh-TW" dirty="0"/>
                  <a:t>”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2114167-DF1E-C66C-4319-3D1E7E307A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This slide illustrates the basic idea of Canonical Correlation Analysis, or CCA.</a:t>
                </a:r>
              </a:p>
              <a:p>
                <a:r>
                  <a:rPr lang="en-US" altLang="zh-TW" dirty="0"/>
                  <a:t>Here, we start with two sets of variables, Xa and </a:t>
                </a:r>
                <a:r>
                  <a:rPr lang="en-US" altLang="zh-TW" dirty="0" err="1"/>
                  <a:t>Xb</a:t>
                </a:r>
                <a:r>
                  <a:rPr lang="en-US" altLang="zh-TW" dirty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In my project, you can think of these as two multivariate profile datasets, for example temperature and salinity.</a:t>
                </a:r>
              </a:p>
              <a:p>
                <a:r>
                  <a:rPr lang="en-US" altLang="zh-TW" dirty="0"/>
                  <a:t>Each dataset may have many dimensions, so instead of looking at all variables directly, CCA looks for linear combinations of the variables in each set.</a:t>
                </a:r>
              </a:p>
              <a:p>
                <a:r>
                  <a:rPr lang="en-US" altLang="zh-TW" dirty="0"/>
                  <a:t>That is what the matrices </a:t>
                </a:r>
                <a:r>
                  <a:rPr lang="en-US" altLang="zh-TW" dirty="0" err="1"/>
                  <a:t>Wa</a:t>
                </a:r>
                <a:r>
                  <a:rPr lang="en-US" altLang="zh-TW" dirty="0"/>
                  <a:t> and Wb represent. They project the original data into lower-dimensional directions.</a:t>
                </a:r>
              </a:p>
              <a:p>
                <a:r>
                  <a:rPr lang="en-US" altLang="zh-TW" dirty="0"/>
                  <a:t>After projection, we get XaWa and </a:t>
                </a:r>
                <a:r>
                  <a:rPr lang="en-US" altLang="zh-TW" dirty="0" err="1"/>
                  <a:t>XbWb</a:t>
                </a:r>
                <a:r>
                  <a:rPr lang="en-US" altLang="zh-TW" dirty="0"/>
                  <a:t>, which are the canonical variables.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The goal is to find directions so that these projected variables are as strongly related as possible.</a:t>
                </a:r>
              </a:p>
              <a:p>
                <a:br>
                  <a:rPr lang="en-US" altLang="zh-TW" dirty="0"/>
                </a:br>
                <a:br>
                  <a:rPr lang="en-US" altLang="zh-TW" dirty="0"/>
                </a:br>
                <a:br>
                  <a:rPr lang="en-US" altLang="zh-TW" dirty="0"/>
                </a:br>
                <a:r>
                  <a:rPr lang="en-US" altLang="zh-TW" dirty="0"/>
                  <a:t>“In this slide,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altLang="zh-TW" dirty="0"/>
                  <a:t>and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altLang="zh-TW" dirty="0"/>
                  <a:t>represent two datasets measured on the same set of samples.</a:t>
                </a:r>
                <a:br>
                  <a:rPr lang="en-US" altLang="zh-TW" dirty="0"/>
                </a:br>
                <a:r>
                  <a:rPr lang="en-US" altLang="zh-TW" dirty="0"/>
                  <a:t>For example, in my project,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altLang="zh-TW" dirty="0"/>
                  <a:t>can represent temperature profiles and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altLang="zh-TW" dirty="0"/>
                  <a:t>can represent salinity profiles.</a:t>
                </a:r>
                <a:br>
                  <a:rPr lang="en-US" altLang="zh-TW" dirty="0"/>
                </a:br>
                <a:r>
                  <a:rPr lang="en-US" altLang="zh-TW" dirty="0"/>
                  <a:t>Each row corresponds to one ocean profile, and each column corresponds to one variable, such as measurements at different depths or reduced features extracted from the original profiles.</a:t>
                </a:r>
              </a:p>
              <a:p>
                <a:r>
                  <a:rPr lang="en-US" altLang="zh-TW" dirty="0"/>
                  <a:t>The arrows like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ar-AE" altLang="zh-TW" dirty="0"/>
                  <a:t>,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ar-AE" altLang="zh-TW" dirty="0"/>
                  <a:t>,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ar-AE" altLang="zh-TW" dirty="0"/>
                  <a:t>, </a:t>
                </a:r>
                <a:r>
                  <a:rPr lang="en-US" altLang="zh-TW" dirty="0"/>
                  <a:t>and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altLang="zh-TW" dirty="0"/>
                  <a:t>represent directions in the original data spaces.</a:t>
                </a:r>
                <a:br>
                  <a:rPr lang="en-US" altLang="zh-TW" dirty="0"/>
                </a:br>
                <a:r>
                  <a:rPr lang="en-US" altLang="zh-TW" dirty="0"/>
                  <a:t>These directions are not single variables. Instead, each direction represents a pattern formed by combining multiple variables together.</a:t>
                </a:r>
                <a:br>
                  <a:rPr lang="en-US" altLang="zh-TW" dirty="0"/>
                </a:br>
                <a:r>
                  <a:rPr lang="en-US" altLang="zh-TW" dirty="0"/>
                  <a:t>For example, one direction in the temperature space might represent a profile pattern with a warmer surface and a rapid decline with depth. Another direction might represent an overall colder profile that changes more gradually with depth.</a:t>
                </a:r>
                <a:br>
                  <a:rPr lang="en-US" altLang="zh-TW" dirty="0"/>
                </a:br>
                <a:r>
                  <a:rPr lang="en-US" altLang="zh-TW" dirty="0"/>
                  <a:t>So these directions correspond to interpretable modes of variation in the data.</a:t>
                </a:r>
              </a:p>
              <a:p>
                <a:r>
                  <a:rPr lang="en-US" altLang="zh-TW" dirty="0"/>
                  <a:t>The matrices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altLang="zh-TW" dirty="0"/>
                  <a:t>and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altLang="zh-TW" dirty="0"/>
                  <a:t>are the weights used to define those directions more systematically.</a:t>
                </a:r>
                <a:br>
                  <a:rPr lang="en-US" altLang="zh-TW" dirty="0"/>
                </a:br>
                <a:r>
                  <a:rPr lang="en-US" altLang="zh-TW" dirty="0"/>
                  <a:t>They tell us how much each original variable contributes to a new combined feature.</a:t>
                </a:r>
                <a:br>
                  <a:rPr lang="en-US" altLang="zh-TW" dirty="0"/>
                </a:br>
                <a:r>
                  <a:rPr lang="en-US" altLang="zh-TW" dirty="0"/>
                  <a:t>So in the temperature case, a column of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en-US" altLang="zh-TW" dirty="0"/>
                  <a:t>might place more weight on upper-ocean measurements and less weight on deep-ocean measurements, meaning that this canonical direction is especially sensitive to surface structure.</a:t>
                </a:r>
                <a:br>
                  <a:rPr lang="en-US" altLang="zh-TW" dirty="0"/>
                </a:br>
                <a:r>
                  <a:rPr lang="en-US" altLang="zh-TW" dirty="0"/>
                  <a:t>In salinity, a column of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altLang="zh-TW" dirty="0"/>
                  <a:t>might capture a pattern such as fresher near-surface water but more stable salinity at depth.</a:t>
                </a:r>
              </a:p>
              <a:p>
                <a:r>
                  <a:rPr lang="en-US" altLang="zh-TW" dirty="0"/>
                  <a:t>”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58BFA5-C34B-8CD2-B17B-A2526904A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61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D278-77DE-EED1-B611-86EF2552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5E5F50-2609-6F30-552E-3F6C23233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6C8796-0FF8-544F-22DE-5C040B9C4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After that, I applied Sliced Inverse Regression, or SIR, to see how well profiles can be explained by latitude.</a:t>
            </a:r>
            <a:r>
              <a:rPr lang="zh-TW" altLang="en-US" dirty="0"/>
              <a:t> </a:t>
            </a:r>
            <a:r>
              <a:rPr lang="en-US" altLang="zh-TW" dirty="0"/>
              <a:t>Since we want to know how location affect temperature &amp; salinity.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For temperature, the strongest latitude-related signal is concentrated In the upper to mid-depth ocean. And the first 2 SIR components change nonlinearly with latitude, showing that temperature differ systematically across latitude.</a:t>
            </a:r>
          </a:p>
          <a:p>
            <a:endParaRPr lang="en-US" altLang="zh-TW" dirty="0"/>
          </a:p>
          <a:p>
            <a:r>
              <a:rPr lang="en-US" altLang="zh-TW" dirty="0"/>
              <a:t>For salinity, there is also some latitude-related structure, especially in the upper and intermediate layers, but it is obviously weaker comparing to temperature.</a:t>
            </a:r>
          </a:p>
          <a:p>
            <a:endParaRPr lang="en-US" altLang="zh-TW" dirty="0"/>
          </a:p>
          <a:p>
            <a:r>
              <a:rPr lang="en-US" altLang="zh-TW" dirty="0"/>
              <a:t>So the main conclusion from SIR is that latitude explains temperature more strongly than salinity profiles especially in the upper ocean.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FDB435-FB48-298B-4D1D-7744E73F8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361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4EF5-F7A4-9FE3-DEE6-5414E8E5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B457450-501F-5EE8-4F01-944E83BFF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339EA4D2-C92D-7D0C-D1DB-8F5842DD36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Sliced Inverse Regression, or SIR, is a supervised dimension reduction method for studying the relationship between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The key idea is that instead of directly modeling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altLang="zh-TW" dirty="0"/>
                  <a:t>from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, we first divide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altLang="zh-TW" dirty="0"/>
                  <a:t>into several slices and look at the average value of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within each slice.</a:t>
                </a:r>
                <a:br>
                  <a:rPr lang="en-US" altLang="zh-TW" dirty="0"/>
                </a:br>
                <a:r>
                  <a:rPr lang="en-US" altLang="zh-TW" dirty="0"/>
                  <a:t>That is what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  <m:r>
                      <a:rPr lang="ar-AE" altLang="zh-TW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zh-TW" altLang="ar-AE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zh-TW" alt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∈</m:t>
                        </m:r>
                        <m:sSub>
                          <m:sSubPr>
                            <m:ctrlP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TW" altLang="ar-AE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𝐼</m:t>
                            </m:r>
                          </m:e>
                          <m:sub>
                            <m:r>
                              <a:rPr lang="ar-AE" altLang="zh-TW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means.</a:t>
                </a:r>
              </a:p>
              <a:p>
                <a:r>
                  <a:rPr lang="en-US" altLang="zh-TW" dirty="0"/>
                  <a:t>If these average predictor patterns change across slices, then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contains structure related to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altLang="zh-TW" dirty="0"/>
                  <a:t>.</a:t>
                </a:r>
                <a:br>
                  <a:rPr lang="en-US" altLang="zh-TW" dirty="0"/>
                </a:br>
                <a:r>
                  <a:rPr lang="en-US" altLang="zh-TW" dirty="0"/>
                  <a:t>We summarize these changes in the matrix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lang="en-US" altLang="zh-TW" dirty="0"/>
                  <a:t>, and by doing eigen-decomposition, we find the main directions in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that are most associated with the response.</a:t>
                </a:r>
              </a:p>
              <a:p>
                <a:r>
                  <a:rPr lang="en-US" altLang="zh-TW" dirty="0"/>
                  <a:t>Finally, we project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altLang="zh-TW" dirty="0"/>
                  <a:t>onto those directions to get a lower-dimensional representation,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𝑍</m:t>
                    </m:r>
                    <m:r>
                      <a:rPr lang="en-US" altLang="zh-TW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𝑋𝐵</m:t>
                    </m:r>
                  </m:oMath>
                </a14:m>
                <a:r>
                  <a:rPr lang="en-US" altLang="zh-TW" dirty="0"/>
                  <a:t>.</a:t>
                </a:r>
                <a:br>
                  <a:rPr lang="en-US" altLang="zh-TW" dirty="0"/>
                </a:br>
                <a:r>
                  <a:rPr lang="en-US" altLang="zh-TW" dirty="0"/>
                  <a:t>So in this project, SIR helps us identify the main temperature or salinity profile patterns that are related to latitude.</a:t>
                </a:r>
              </a:p>
              <a:p>
                <a:endParaRPr lang="en-US" altLang="zh-TW" dirty="0"/>
              </a:p>
            </p:txBody>
          </p:sp>
        </mc:Choice>
        <mc:Fallback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339EA4D2-C92D-7D0C-D1DB-8F5842DD36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Sliced Inverse Regression, or SIR, is a supervised dimension reduction method for studying the relationship between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and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The key idea is that instead of directly modeling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altLang="zh-TW" dirty="0"/>
                  <a:t>from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, we first divide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altLang="zh-TW" dirty="0"/>
                  <a:t>into several slices and look at the average value of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within each slice.</a:t>
                </a:r>
                <a:br>
                  <a:rPr lang="en-US" altLang="zh-TW" dirty="0"/>
                </a:br>
                <a:r>
                  <a:rPr lang="en-US" altLang="zh-TW" dirty="0"/>
                  <a:t>That is what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_ℎ=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_ℎ ]</a:t>
                </a:r>
                <a:r>
                  <a:rPr lang="en-US" altLang="zh-TW" dirty="0"/>
                  <a:t>means.</a:t>
                </a:r>
              </a:p>
              <a:p>
                <a:r>
                  <a:rPr lang="en-US" altLang="zh-TW" dirty="0"/>
                  <a:t>If these average predictor patterns change across slices, then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contains structure related to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altLang="zh-TW" dirty="0"/>
                  <a:t>.</a:t>
                </a:r>
                <a:br>
                  <a:rPr lang="en-US" altLang="zh-TW" dirty="0"/>
                </a:br>
                <a:r>
                  <a:rPr lang="en-US" altLang="zh-TW" dirty="0"/>
                  <a:t>We summarize these changes in the matrix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en-US" altLang="zh-TW" dirty="0"/>
                  <a:t>, and by doing eigen-decomposition, we find the main directions in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that are most associated with the response.</a:t>
                </a:r>
              </a:p>
              <a:p>
                <a:r>
                  <a:rPr lang="en-US" altLang="zh-TW" dirty="0"/>
                  <a:t>Finally, we project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TW" dirty="0"/>
                  <a:t>onto those directions to get a lower-dimensional representation,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𝑋𝐵</a:t>
                </a:r>
                <a:r>
                  <a:rPr lang="en-US" altLang="zh-TW" dirty="0"/>
                  <a:t>.</a:t>
                </a:r>
                <a:br>
                  <a:rPr lang="en-US" altLang="zh-TW" dirty="0"/>
                </a:br>
                <a:r>
                  <a:rPr lang="en-US" altLang="zh-TW" dirty="0"/>
                  <a:t>So in this project, SIR helps us identify the main temperature or salinity profile patterns that are related to latitude.</a:t>
                </a:r>
              </a:p>
              <a:p>
                <a:endParaRPr lang="en-US" altLang="zh-TW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8E53F3-4551-14CA-33F4-2C1B83DF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740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B537-A799-DBE1-8E4B-B3AA3A28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A81177-BEA0-3F22-C160-7FEFABA4B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EE0BD7-CA07-66DD-FDA0-5884BC50A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And then the next topic is Minimum Covariance Determinant to identify unusual profiles. The key reason for using MCD is because the ordinary covariance-based distance measures can be distorted by outliers. MCD provides a more robust estimate of the data center and covariance by focusing on the most compact subset.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Using the </a:t>
            </a:r>
            <a:r>
              <a:rPr lang="en-US" altLang="zh-TW" dirty="0" err="1"/>
              <a:t>Mahalanobis</a:t>
            </a:r>
            <a:r>
              <a:rPr lang="en-US" altLang="zh-TW" dirty="0"/>
              <a:t> distance, I found that outlying profiles are not randomly scattered. Instead, they tend to be geographically </a:t>
            </a:r>
            <a:r>
              <a:rPr lang="en-US" altLang="zh-TW" dirty="0" err="1"/>
              <a:t>clusterd</a:t>
            </a:r>
            <a:r>
              <a:rPr lang="en-US" altLang="zh-TW" dirty="0"/>
              <a:t>, which suggest that they mat reflect meaningful regional anomalies rather than just noise.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84B1EC-A727-E495-0DB7-7E7B220E5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213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90F1-2296-73E5-76A8-46E44E87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C3924C1-309F-CF09-5AD0-AF6003CF3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EA50BF-91D5-3B6D-9E00-B84DBBF91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Minimum Covariance Determinant, or MCD, which is a robust method for outlier detection.</a:t>
            </a:r>
          </a:p>
          <a:p>
            <a:r>
              <a:rPr lang="en-US" altLang="zh-TW" dirty="0"/>
              <a:t>A simple Euclidean distance is not ideal because it treats all variables equally and ignores the covariance structure.</a:t>
            </a:r>
            <a:br>
              <a:rPr lang="en-US" altLang="zh-TW" dirty="0"/>
            </a:br>
            <a:r>
              <a:rPr lang="en-US" altLang="zh-TW" dirty="0" err="1"/>
              <a:t>Mahalanobis</a:t>
            </a:r>
            <a:r>
              <a:rPr lang="en-US" altLang="zh-TW" dirty="0"/>
              <a:t> distance improves on this by measuring distance relative to the data center and covariance.</a:t>
            </a:r>
          </a:p>
          <a:p>
            <a:r>
              <a:rPr lang="en-US" altLang="zh-TW" dirty="0"/>
              <a:t>However, there is still a problem: if the dataset contains outliers, those outliers can distort both the estimated mean and the covariance matrix.</a:t>
            </a:r>
            <a:br>
              <a:rPr lang="en-US" altLang="zh-TW" dirty="0"/>
            </a:br>
            <a:r>
              <a:rPr lang="en-US" altLang="zh-TW" dirty="0"/>
              <a:t>As a result, the </a:t>
            </a:r>
            <a:r>
              <a:rPr lang="en-US" altLang="zh-TW" dirty="0" err="1"/>
              <a:t>Mahalanobis</a:t>
            </a:r>
            <a:r>
              <a:rPr lang="en-US" altLang="zh-TW" dirty="0"/>
              <a:t> distance itself may become unreliable.</a:t>
            </a:r>
          </a:p>
          <a:p>
            <a:r>
              <a:rPr lang="en-US" altLang="zh-TW" dirty="0"/>
              <a:t>MCD solves this by searching for the most compact subset of the data, meaning the subset with the smallest covariance determinant.</a:t>
            </a:r>
            <a:br>
              <a:rPr lang="en-US" altLang="zh-TW" dirty="0"/>
            </a:br>
            <a:r>
              <a:rPr lang="en-US" altLang="zh-TW" dirty="0"/>
              <a:t>The idea is that this subset is less affected by outliers and better represents the main body of the data.</a:t>
            </a:r>
          </a:p>
          <a:p>
            <a:r>
              <a:rPr lang="en-US" altLang="zh-TW" dirty="0"/>
              <a:t>Using this subset, we obtain a robust estimate of the center and covariance, and then compute a more reliable </a:t>
            </a:r>
            <a:r>
              <a:rPr lang="en-US" altLang="zh-TW" dirty="0" err="1"/>
              <a:t>Mahalanobis</a:t>
            </a:r>
            <a:r>
              <a:rPr lang="en-US" altLang="zh-TW" dirty="0"/>
              <a:t> distance for detecting unusual profiles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9DC0B4-5537-6749-2B62-87CB7E55F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032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AAFA-EF19-EE17-D02F-36F723E5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4238221-FBF4-2DB3-B790-3E16D454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3DD0C2-611F-05C1-09CC-EF64CFCD0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Finally, I used support points to summarize the full dataset with a small representative subset.</a:t>
            </a:r>
          </a:p>
          <a:p>
            <a:endParaRPr lang="en-US" altLang="zh-TW" dirty="0"/>
          </a:p>
          <a:p>
            <a:r>
              <a:rPr lang="en-US" altLang="zh-TW" dirty="0"/>
              <a:t>The idea here is not clustering in the usual sense, but selecting a small number of points that preserve the distribution of the full data.</a:t>
            </a:r>
          </a:p>
          <a:p>
            <a:endParaRPr lang="en-US" altLang="zh-TW" dirty="0"/>
          </a:p>
          <a:p>
            <a:r>
              <a:rPr lang="en-US" altLang="zh-TW" dirty="0"/>
              <a:t>The support-point profiles cover a broad range of temperature and salinity structures, and their geographic distribution also suggests that they retain the dominant regional patterns.</a:t>
            </a:r>
          </a:p>
          <a:p>
            <a:endParaRPr lang="en-US" altLang="zh-TW" dirty="0"/>
          </a:p>
          <a:p>
            <a:r>
              <a:rPr lang="en-US" altLang="zh-TW" dirty="0"/>
              <a:t>To evaluate stability of this methods, I compared support points with random subsets. The results show that support points are much closer to the full data distribution than randomly selected profiles.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DE6A27-6454-436B-6D8E-903AB6EBA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924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B126-AB0D-A42E-CC3C-6BD2CE68F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129DBB-3873-F08D-4053-5ED270CCC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9294F9-F283-DADD-CB07-93625ED5B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Here I’m showing where the support points are located for temperature and salinity.</a:t>
            </a:r>
            <a:br>
              <a:rPr lang="en-US" altLang="zh-TW" dirty="0"/>
            </a:br>
            <a:r>
              <a:rPr lang="en-US" altLang="zh-TW" dirty="0"/>
              <a:t>Although this is only a reduced subset of the full dataset, the points still cover the major ocean regions quite broadly.</a:t>
            </a:r>
            <a:br>
              <a:rPr lang="en-US" altLang="zh-TW" dirty="0"/>
            </a:br>
            <a:r>
              <a:rPr lang="en-US" altLang="zh-TW" dirty="0"/>
              <a:t>That’s important because it means the reduced sample is not losing the main spatial patterns in the original data.</a:t>
            </a:r>
            <a:br>
              <a:rPr lang="en-US" altLang="zh-TW" dirty="0"/>
            </a:br>
            <a:r>
              <a:rPr lang="en-US" altLang="zh-TW" dirty="0"/>
              <a:t>In other words, the support points still capture the large-scale variability of the full dataset, but in a much more compact way.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“I first computed 10 support points as representative prototype profiles for the full dataset. Then, for each observed profile, I calculated its distance to all 10 support points and assigned it to the nearest one. So the classification is based on profile similarity, not just geographic location.”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296496-A633-A966-A8A9-4B251A32F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2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0F63-0D31-DCBA-489D-7469F528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19989E6-BE2C-BDC5-2A4E-4130B444E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1069E8-B79B-C0DC-CEB3-EEBE47FCD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This table shows why support points are more effective than just randomly picking a few profiles.</a:t>
            </a:r>
          </a:p>
          <a:p>
            <a:br>
              <a:rPr lang="en-US" altLang="zh-TW" dirty="0"/>
            </a:br>
            <a:r>
              <a:rPr lang="en-US" altLang="zh-TW" dirty="0"/>
              <a:t>First, support points stay much closer to the full dataset, with a mean distance of about 0.56, while random 10-profile subsets are much farther away, with a mean above 4.3.</a:t>
            </a:r>
          </a:p>
          <a:p>
            <a:endParaRPr lang="en-US" altLang="zh-TW" dirty="0"/>
          </a:p>
          <a:p>
            <a:r>
              <a:rPr lang="en-US" altLang="zh-TW" dirty="0"/>
              <a:t>Second, support points are also much more stable, because their variability is much smaller across repeated runs.</a:t>
            </a:r>
          </a:p>
          <a:p>
            <a:br>
              <a:rPr lang="en-US" altLang="zh-TW" dirty="0"/>
            </a:br>
            <a:r>
              <a:rPr lang="en-US" altLang="zh-TW" dirty="0"/>
              <a:t>Even when comparing one support-point set to another, the distances remain relatively small, while random subsets vary a lot more.</a:t>
            </a:r>
          </a:p>
          <a:p>
            <a:br>
              <a:rPr lang="en-US" altLang="zh-TW" dirty="0"/>
            </a:br>
            <a:r>
              <a:rPr lang="en-US" altLang="zh-TW" dirty="0"/>
              <a:t>So the main takeaway is that support points give a much more reliable and representative summary of the full dataset than random sampling.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3ED2D3-F145-B631-A501-942090BAB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804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FC96-D309-BF4C-D50E-C98BD423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FDD0EE-6D3F-D7A6-A5C6-BB571E24F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4E5B08-202D-9200-9393-181EEDB92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 summarize the main findings:</a:t>
            </a:r>
          </a:p>
          <a:p>
            <a:endParaRPr lang="en-US" altLang="zh-TW" dirty="0"/>
          </a:p>
          <a:p>
            <a:r>
              <a:rPr lang="en-US" altLang="zh-TW" dirty="0"/>
              <a:t>First, the dominant temperature variation in the Pacific is a surface-intensified warm–cold gradient, separating tropical and subtropical waters from high-latitude waters.</a:t>
            </a:r>
          </a:p>
          <a:p>
            <a:endParaRPr lang="en-US" altLang="zh-TW" dirty="0"/>
          </a:p>
          <a:p>
            <a:r>
              <a:rPr lang="en-US" altLang="zh-TW" dirty="0"/>
              <a:t>Second, salinity variability is driven less by a simple fresh-versus-salty contrast, and more by differences in vertical stratification.</a:t>
            </a:r>
          </a:p>
          <a:p>
            <a:endParaRPr lang="en-US" altLang="zh-TW" dirty="0"/>
          </a:p>
          <a:p>
            <a:r>
              <a:rPr lang="en-US" altLang="zh-TW" dirty="0"/>
              <a:t>Third, temperature and salinity are strongly coupled at basin scale, which indicates a coherent large-scale ocean structure.</a:t>
            </a:r>
          </a:p>
          <a:p>
            <a:endParaRPr lang="en-US" altLang="zh-TW" dirty="0"/>
          </a:p>
          <a:p>
            <a:r>
              <a:rPr lang="en-US" altLang="zh-TW" dirty="0"/>
              <a:t>Fourth, latitude has a stronger effect on temperature than on salinity, especially in the upper and middle ocean.</a:t>
            </a:r>
          </a:p>
          <a:p>
            <a:endParaRPr lang="en-US" altLang="zh-TW" dirty="0"/>
          </a:p>
          <a:p>
            <a:r>
              <a:rPr lang="en-US" altLang="zh-TW" dirty="0"/>
              <a:t>And finally, extreme profiles are geographically clustered, suggesting that these outliers may represent real regional anomalies rather than random measurement noise.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2C4994-345B-4B3C-94FF-CD56BACA9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233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7D3E-208B-FDD0-9203-447F4869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3BA0FAC-9189-3F47-C15B-C51210C5F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EE3D20-1704-CE90-A1C0-E8282839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F31E4C-2F60-4FAD-BF14-C79E00A75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2FB7E-39F1-4566-B5DE-18ED31E4AC7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444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93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50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43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29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77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186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8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38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53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50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74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9FCB68-CF18-4A05-A7FE-EA013FFBCF6D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DADA52-7E43-41DB-8D5B-6A67B7DAA82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10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data-argo.ifremer.fr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argo.ifremer.f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5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4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5" Type="http://schemas.openxmlformats.org/officeDocument/2006/relationships/image" Target="../media/image10.png"/><Relationship Id="rId10" Type="http://schemas.openxmlformats.org/officeDocument/2006/relationships/slide" Target="slide10.xml"/><Relationship Id="rId4" Type="http://schemas.openxmlformats.org/officeDocument/2006/relationships/slide" Target="slide5.xml"/><Relationship Id="rId9" Type="http://schemas.openxmlformats.org/officeDocument/2006/relationships/image" Target="../media/image8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slide" Target="slide9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slide" Target="slide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slide" Target="slide15.xml"/><Relationship Id="rId10" Type="http://schemas.openxmlformats.org/officeDocument/2006/relationships/slide" Target="slide16.xml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4AC4F5-972A-0D6B-A316-15277E5E7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1437" y="965200"/>
            <a:ext cx="6837533" cy="4927600"/>
          </a:xfrm>
        </p:spPr>
        <p:txBody>
          <a:bodyPr anchor="ctr">
            <a:normAutofit/>
          </a:bodyPr>
          <a:lstStyle/>
          <a:p>
            <a:br>
              <a:rPr lang="en-US" altLang="zh-TW" sz="2600" dirty="0">
                <a:solidFill>
                  <a:schemeClr val="tx1"/>
                </a:solidFill>
              </a:rPr>
            </a:br>
            <a:r>
              <a:rPr lang="en-US" altLang="zh-TW" sz="2600" dirty="0">
                <a:solidFill>
                  <a:schemeClr val="tx1"/>
                </a:solidFill>
              </a:rPr>
              <a:t>STATS 504 – Memo 5</a:t>
            </a:r>
            <a:br>
              <a:rPr lang="en-US" altLang="zh-TW" sz="2600" dirty="0">
                <a:solidFill>
                  <a:schemeClr val="tx1"/>
                </a:solidFill>
              </a:rPr>
            </a:br>
            <a:br>
              <a:rPr lang="en-US" altLang="zh-TW" sz="2600" dirty="0">
                <a:solidFill>
                  <a:schemeClr val="tx1"/>
                </a:solidFill>
              </a:rPr>
            </a:br>
            <a:r>
              <a:rPr lang="en-US" altLang="zh-TW" sz="2600" dirty="0">
                <a:solidFill>
                  <a:schemeClr val="tx1"/>
                </a:solidFill>
              </a:rPr>
              <a:t>Spatial Variations in Global Ocean Profiles: </a:t>
            </a:r>
            <a:br>
              <a:rPr lang="en-US" altLang="zh-TW" sz="2600" dirty="0">
                <a:solidFill>
                  <a:schemeClr val="tx1"/>
                </a:solidFill>
              </a:rPr>
            </a:br>
            <a:r>
              <a:rPr lang="en-US" altLang="zh-TW" sz="2600" dirty="0">
                <a:solidFill>
                  <a:schemeClr val="tx1"/>
                </a:solidFill>
              </a:rPr>
              <a:t>A Multivariate Statistical Approach using ARGO Data</a:t>
            </a:r>
            <a:br>
              <a:rPr lang="en-US" altLang="zh-TW" sz="2600" dirty="0">
                <a:solidFill>
                  <a:schemeClr val="tx1"/>
                </a:solidFill>
              </a:rPr>
            </a:br>
            <a:br>
              <a:rPr lang="en-US" altLang="zh-TW" sz="2600" dirty="0">
                <a:solidFill>
                  <a:schemeClr val="tx1"/>
                </a:solidFill>
              </a:rPr>
            </a:br>
            <a:r>
              <a:rPr lang="en-US" altLang="zh-TW" sz="2600" dirty="0">
                <a:solidFill>
                  <a:schemeClr val="tx1"/>
                </a:solidFill>
              </a:rPr>
              <a:t>Oscar Shih</a:t>
            </a:r>
            <a:br>
              <a:rPr lang="en-US" altLang="zh-TW" sz="2600" dirty="0">
                <a:solidFill>
                  <a:schemeClr val="tx1"/>
                </a:solidFill>
              </a:rPr>
            </a:br>
            <a:br>
              <a:rPr lang="en-US" altLang="zh-TW" sz="2600" dirty="0">
                <a:solidFill>
                  <a:schemeClr val="tx1"/>
                </a:solidFill>
              </a:rPr>
            </a:br>
            <a:r>
              <a:rPr lang="en-US" altLang="zh-TW" sz="2600" dirty="0">
                <a:solidFill>
                  <a:schemeClr val="tx1"/>
                </a:solidFill>
              </a:rPr>
              <a:t>March 30, 2026</a:t>
            </a:r>
            <a:br>
              <a:rPr lang="en-US" altLang="zh-TW" sz="2600" dirty="0">
                <a:solidFill>
                  <a:schemeClr val="tx1"/>
                </a:solidFill>
              </a:rPr>
            </a:br>
            <a:endParaRPr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97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64C335-2876-59F0-660C-3FE403B2087A}"/>
              </a:ext>
            </a:extLst>
          </p:cNvPr>
          <p:cNvSpPr txBox="1">
            <a:spLocks/>
          </p:cNvSpPr>
          <p:nvPr/>
        </p:nvSpPr>
        <p:spPr>
          <a:xfrm>
            <a:off x="261256" y="254336"/>
            <a:ext cx="6207034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Exploratory</a:t>
            </a:r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Analysis</a:t>
            </a:r>
            <a:endParaRPr lang="zh-TW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8FB27821-091E-5A9B-15AF-14BE3B7BFED3}"/>
              </a:ext>
            </a:extLst>
          </p:cNvPr>
          <p:cNvSpPr txBox="1">
            <a:spLocks/>
          </p:cNvSpPr>
          <p:nvPr/>
        </p:nvSpPr>
        <p:spPr>
          <a:xfrm>
            <a:off x="368808" y="1152192"/>
            <a:ext cx="10712849" cy="33653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2600" dirty="0">
              <a:solidFill>
                <a:schemeClr val="tx2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4652AF2-7D7F-A532-1B03-B9496C3D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953" y="1813720"/>
            <a:ext cx="3886519" cy="335384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A319282-D440-75B0-4A8F-90FEDD069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5" y="1138844"/>
            <a:ext cx="4226077" cy="512594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BF8A5B-560A-BB88-63C2-B3D9522C6774}"/>
              </a:ext>
            </a:extLst>
          </p:cNvPr>
          <p:cNvSpPr txBox="1"/>
          <p:nvPr/>
        </p:nvSpPr>
        <p:spPr>
          <a:xfrm>
            <a:off x="4594884" y="1656468"/>
            <a:ext cx="3743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Figure 1.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Vertical profiles of temperature and salinity, showing the mean structure and interquartile variability across pressure levels.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31DF6B7-DF3B-D096-C6AD-C6FBF2810AFA}"/>
              </a:ext>
            </a:extLst>
          </p:cNvPr>
          <p:cNvSpPr txBox="1"/>
          <p:nvPr/>
        </p:nvSpPr>
        <p:spPr>
          <a:xfrm>
            <a:off x="8629657" y="5267723"/>
            <a:ext cx="34298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400" b="1" dirty="0"/>
              <a:t>Figure 2.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Temperature–salinity relationships reveal distinct water-mass structure and strong surface-to-deep stratification.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E56F697-2C47-5B38-DD7F-28EE3798C75A}"/>
              </a:ext>
            </a:extLst>
          </p:cNvPr>
          <p:cNvSpPr txBox="1"/>
          <p:nvPr/>
        </p:nvSpPr>
        <p:spPr>
          <a:xfrm>
            <a:off x="6468290" y="160099"/>
            <a:ext cx="5462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Data source: ARGO (#</a:t>
            </a:r>
            <a:r>
              <a:rPr lang="zh-TW" altLang="en-US" sz="2000" dirty="0"/>
              <a:t> </a:t>
            </a:r>
            <a:r>
              <a:rPr lang="en-US" altLang="zh-TW" sz="2000" dirty="0"/>
              <a:t>of</a:t>
            </a:r>
            <a:r>
              <a:rPr lang="zh-TW" altLang="en-US" sz="2000" dirty="0"/>
              <a:t> </a:t>
            </a:r>
            <a:r>
              <a:rPr lang="en-US" altLang="zh-TW" sz="2000" dirty="0"/>
              <a:t>data: 49576 profiles)</a:t>
            </a:r>
          </a:p>
          <a:p>
            <a:r>
              <a:rPr lang="en-US" altLang="zh-TW" sz="2000" dirty="0"/>
              <a:t>(</a:t>
            </a:r>
            <a:r>
              <a:rPr lang="en-US" altLang="zh-TW" sz="2000" dirty="0">
                <a:hlinkClick r:id="rId5"/>
              </a:rPr>
              <a:t>Array for Real-Time Geostrophic Oceanography</a:t>
            </a:r>
            <a:r>
              <a:rPr lang="en-US" altLang="zh-TW" sz="2000" dirty="0"/>
              <a:t>)</a:t>
            </a:r>
          </a:p>
          <a:p>
            <a:r>
              <a:rPr lang="en-US" altLang="zh-TW" sz="2000" dirty="0"/>
              <a:t>Time Range: 2020/01/01 – 2020/12/31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投影片縮放 32">
                <a:extLst>
                  <a:ext uri="{FF2B5EF4-FFF2-40B4-BE49-F238E27FC236}">
                    <a16:creationId xmlns:a16="http://schemas.microsoft.com/office/drawing/2014/main" id="{3D1A50F1-05A2-E870-72C0-9A4DD309D3A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5408343"/>
                  </p:ext>
                </p:extLst>
              </p:nvPr>
            </p:nvGraphicFramePr>
            <p:xfrm>
              <a:off x="5030827" y="4638488"/>
              <a:ext cx="2707906" cy="1258470"/>
            </p:xfrm>
            <a:graphic>
              <a:graphicData uri="http://schemas.microsoft.com/office/powerpoint/2016/slidezoom">
                <pslz:sldZm>
                  <pslz:sldZmObj sldId="260" cId="2989206384">
                    <pslz:zmPr id="{C6532200-53CE-4D42-90DE-F52747F542E9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07906" cy="1258470"/>
                        </a:xfrm>
                        <a:prstGeom prst="rect">
                          <a:avLst/>
                        </a:prstGeom>
                        <a:ln w="12700" cap="sq">
                          <a:solidFill>
                            <a:srgbClr val="000000"/>
                          </a:solidFill>
                          <a:miter lim="800000"/>
                        </a:ln>
                        <a:effectLst>
                          <a:outerShdw blurRad="57150" dist="5080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投影片縮放 3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3D1A50F1-05A2-E870-72C0-9A4DD309D3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30827" y="4638488"/>
                <a:ext cx="2707906" cy="1258470"/>
              </a:xfrm>
              <a:prstGeom prst="rect">
                <a:avLst/>
              </a:prstGeom>
              <a:ln w="127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4739B98B-4CA9-7B61-BE83-CECF636D247D}"/>
              </a:ext>
            </a:extLst>
          </p:cNvPr>
          <p:cNvSpPr txBox="1"/>
          <p:nvPr/>
        </p:nvSpPr>
        <p:spPr>
          <a:xfrm>
            <a:off x="5244152" y="4270253"/>
            <a:ext cx="2448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400" dirty="0"/>
              <a:t>Ref: Geo-distribution of data</a:t>
            </a:r>
          </a:p>
        </p:txBody>
      </p:sp>
    </p:spTree>
    <p:extLst>
      <p:ext uri="{BB962C8B-B14F-4D97-AF65-F5344CB8AC3E}">
        <p14:creationId xmlns:p14="http://schemas.microsoft.com/office/powerpoint/2010/main" val="36973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ABAD70-2358-785D-53A2-EA3D1F00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22862-1456-C915-540F-5B339F5ACD04}"/>
              </a:ext>
            </a:extLst>
          </p:cNvPr>
          <p:cNvSpPr txBox="1">
            <a:spLocks/>
          </p:cNvSpPr>
          <p:nvPr/>
        </p:nvSpPr>
        <p:spPr>
          <a:xfrm>
            <a:off x="261256" y="254336"/>
            <a:ext cx="6207034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>
                <a:solidFill>
                  <a:schemeClr val="accent1">
                    <a:lumMod val="75000"/>
                  </a:schemeClr>
                </a:solidFill>
              </a:rPr>
              <a:t>Exploratory</a:t>
            </a:r>
            <a:r>
              <a:rPr lang="zh-TW" altLang="en-US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b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zh-TW" altLang="en-US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b="1">
                <a:solidFill>
                  <a:schemeClr val="accent1">
                    <a:lumMod val="75000"/>
                  </a:schemeClr>
                </a:solidFill>
              </a:rPr>
              <a:t>Analysis</a:t>
            </a:r>
            <a:endParaRPr lang="zh-TW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7E1DD73-BA9E-0D68-0EE2-4AF662FBA657}"/>
              </a:ext>
            </a:extLst>
          </p:cNvPr>
          <p:cNvSpPr txBox="1">
            <a:spLocks/>
          </p:cNvSpPr>
          <p:nvPr/>
        </p:nvSpPr>
        <p:spPr>
          <a:xfrm>
            <a:off x="368808" y="1152192"/>
            <a:ext cx="10712849" cy="33653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2600" dirty="0">
              <a:solidFill>
                <a:schemeClr val="tx2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AF07E54-5C08-50AB-C3F9-6451E4037B68}"/>
              </a:ext>
            </a:extLst>
          </p:cNvPr>
          <p:cNvSpPr txBox="1"/>
          <p:nvPr/>
        </p:nvSpPr>
        <p:spPr>
          <a:xfrm>
            <a:off x="6468290" y="160099"/>
            <a:ext cx="5462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Data source: ARGO (#</a:t>
            </a:r>
            <a:r>
              <a:rPr lang="zh-TW" altLang="en-US" sz="2000" dirty="0"/>
              <a:t> </a:t>
            </a:r>
            <a:r>
              <a:rPr lang="en-US" altLang="zh-TW" sz="2000" dirty="0"/>
              <a:t>of</a:t>
            </a:r>
            <a:r>
              <a:rPr lang="zh-TW" altLang="en-US" sz="2000" dirty="0"/>
              <a:t> </a:t>
            </a:r>
            <a:r>
              <a:rPr lang="en-US" altLang="zh-TW" sz="2000" dirty="0"/>
              <a:t>data: 49576 profiles)</a:t>
            </a:r>
          </a:p>
          <a:p>
            <a:r>
              <a:rPr lang="en-US" altLang="zh-TW" sz="2000" dirty="0"/>
              <a:t>(</a:t>
            </a:r>
            <a:r>
              <a:rPr lang="en-US" altLang="zh-TW" sz="2000" dirty="0">
                <a:hlinkClick r:id="rId3"/>
              </a:rPr>
              <a:t>Array for Real-Time Geostrophic Oceanography</a:t>
            </a:r>
            <a:r>
              <a:rPr lang="en-US" altLang="zh-TW" sz="2000" dirty="0"/>
              <a:t>)</a:t>
            </a:r>
          </a:p>
          <a:p>
            <a:r>
              <a:rPr lang="en-US" altLang="zh-TW" sz="2000" dirty="0"/>
              <a:t>Time Range: 2020/01/01 – 2020/12/31</a:t>
            </a: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648893D-0BC7-877B-1167-A30132E1E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1" y="1269999"/>
            <a:ext cx="7143750" cy="48006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B51C45B-CFEC-5756-2A07-631D2C8A002B}"/>
              </a:ext>
            </a:extLst>
          </p:cNvPr>
          <p:cNvSpPr txBox="1"/>
          <p:nvPr/>
        </p:nvSpPr>
        <p:spPr>
          <a:xfrm>
            <a:off x="7773761" y="3211285"/>
            <a:ext cx="4418239" cy="73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400" dirty="0"/>
              <a:t>Figure 3. Global distribution of ARGO float profiles, with point color encoding latitude to highlight large-scale spatial coverage across ocean basins.</a:t>
            </a:r>
          </a:p>
        </p:txBody>
      </p:sp>
    </p:spTree>
    <p:extLst>
      <p:ext uri="{BB962C8B-B14F-4D97-AF65-F5344CB8AC3E}">
        <p14:creationId xmlns:p14="http://schemas.microsoft.com/office/powerpoint/2010/main" val="298920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0D9FB-F35A-540E-D819-9F69DC62E633}"/>
              </a:ext>
            </a:extLst>
          </p:cNvPr>
          <p:cNvSpPr txBox="1">
            <a:spLocks/>
          </p:cNvSpPr>
          <p:nvPr/>
        </p:nvSpPr>
        <p:spPr>
          <a:xfrm>
            <a:off x="261256" y="254336"/>
            <a:ext cx="6207034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Methodologies</a:t>
            </a:r>
            <a:endParaRPr lang="zh-TW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4DD8EB-2D71-2861-BE7F-4A369109B081}"/>
              </a:ext>
            </a:extLst>
          </p:cNvPr>
          <p:cNvSpPr txBox="1"/>
          <p:nvPr/>
        </p:nvSpPr>
        <p:spPr>
          <a:xfrm>
            <a:off x="261257" y="903514"/>
            <a:ext cx="1193074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b="1" dirty="0"/>
              <a:t>Principle Component Analysis (PCA)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Purpose: </a:t>
            </a:r>
            <a:r>
              <a:rPr lang="en-US" altLang="zh-TW" dirty="0"/>
              <a:t>To achieve </a:t>
            </a:r>
            <a:r>
              <a:rPr lang="en-US" altLang="zh-TW" b="1" dirty="0"/>
              <a:t>dimension reduction </a:t>
            </a:r>
            <a:r>
              <a:rPr lang="en-US" altLang="zh-TW" dirty="0"/>
              <a:t>by identifying the primary modes of vertical variation. Since 100-dimensional profiles are highly redundant, PCA allows us to summarize over 90% of the data variance into a few PCs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b="1" dirty="0"/>
              <a:t>Canonical Correlation Analysis (CCA)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Purpose: </a:t>
            </a:r>
            <a:r>
              <a:rPr lang="en-US" altLang="zh-TW" dirty="0"/>
              <a:t>To quantify the statistical coupling between </a:t>
            </a:r>
            <a:r>
              <a:rPr lang="en-US" altLang="zh-TW" b="1" dirty="0"/>
              <a:t>temperature</a:t>
            </a:r>
            <a:r>
              <a:rPr lang="en-US" altLang="zh-TW" dirty="0"/>
              <a:t> and </a:t>
            </a:r>
            <a:r>
              <a:rPr lang="en-US" altLang="zh-TW" b="1" dirty="0"/>
              <a:t>salinity</a:t>
            </a:r>
            <a:r>
              <a:rPr lang="en-US" altLang="zh-TW" dirty="0"/>
              <a:t> profiles. CCA finds the linear combinations of T and S that are maximally correlated.</a:t>
            </a:r>
            <a:endParaRPr lang="en-US" altLang="zh-TW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b="1" dirty="0"/>
              <a:t>Sliced Inverse Regression (SIR)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Purpose: </a:t>
            </a:r>
            <a:r>
              <a:rPr lang="en-US" altLang="zh-TW" dirty="0"/>
              <a:t>To identify specific ocean depths that are most sensitive to </a:t>
            </a:r>
            <a:r>
              <a:rPr lang="en-US" altLang="zh-TW" b="1" dirty="0"/>
              <a:t>geographic location (latitude)</a:t>
            </a:r>
            <a:r>
              <a:rPr lang="en-US" altLang="zh-TW" dirty="0"/>
              <a:t>. SIR is a supervised reduction method that extracts the structural features of a profile that best predict where in the world the observation was taken.</a:t>
            </a:r>
            <a:endParaRPr lang="en-US" altLang="zh-TW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TW" sz="2800" b="1" dirty="0"/>
              <a:t>Minimum Covariance Determinant (MCD)</a:t>
            </a:r>
            <a:endParaRPr lang="en-US" altLang="zh-TW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Purpose: </a:t>
            </a:r>
            <a:r>
              <a:rPr lang="en-US" altLang="zh-TW" dirty="0"/>
              <a:t>To provide a robust estimation of the ocean's "typical" state while isolating anomalies. By identifying profiles with high </a:t>
            </a:r>
            <a:r>
              <a:rPr lang="en-US" altLang="zh-TW" dirty="0" err="1"/>
              <a:t>Mahalanobis</a:t>
            </a:r>
            <a:r>
              <a:rPr lang="en-US" altLang="zh-TW" dirty="0"/>
              <a:t> distances, MCD allows us to detect outliers.</a:t>
            </a:r>
            <a:endParaRPr lang="fr-FR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TW" sz="2800" b="1" dirty="0"/>
              <a:t>Support Points</a:t>
            </a:r>
            <a:endParaRPr lang="en-US" altLang="zh-TW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Purpose: </a:t>
            </a:r>
            <a:r>
              <a:rPr lang="en-US" altLang="zh-TW" dirty="0"/>
              <a:t>To perform data quantization. The goal is to find a small set of representative "anchor" profiles (e.g., 50 points) that accurately mimic the distribution of the entire 50,000-profile dataset.</a:t>
            </a:r>
            <a:endParaRPr lang="fr-FR" altLang="zh-TW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投影片縮放 4">
                <a:extLst>
                  <a:ext uri="{FF2B5EF4-FFF2-40B4-BE49-F238E27FC236}">
                    <a16:creationId xmlns:a16="http://schemas.microsoft.com/office/drawing/2014/main" id="{77EFE0EF-758C-F129-EB5E-938FB60DBE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2515400"/>
                  </p:ext>
                </p:extLst>
              </p:nvPr>
            </p:nvGraphicFramePr>
            <p:xfrm>
              <a:off x="6011090" y="810986"/>
              <a:ext cx="914400" cy="514350"/>
            </p:xfrm>
            <a:graphic>
              <a:graphicData uri="http://schemas.microsoft.com/office/powerpoint/2016/slidezoom">
                <pslz:sldZm>
                  <pslz:sldZmObj sldId="262" cId="2925213656">
                    <pslz:zmPr id="{F617921A-53C3-4807-A806-061431E43EF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14400" cy="5143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投影片縮放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7EFE0EF-758C-F129-EB5E-938FB60DBE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1090" y="810986"/>
                <a:ext cx="914400" cy="5143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投影片縮放 6">
                <a:extLst>
                  <a:ext uri="{FF2B5EF4-FFF2-40B4-BE49-F238E27FC236}">
                    <a16:creationId xmlns:a16="http://schemas.microsoft.com/office/drawing/2014/main" id="{3A1443C7-EF21-9A47-74C1-85CAA12BC1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0825533"/>
                  </p:ext>
                </p:extLst>
              </p:nvPr>
            </p:nvGraphicFramePr>
            <p:xfrm>
              <a:off x="6068235" y="1974514"/>
              <a:ext cx="800110" cy="450062"/>
            </p:xfrm>
            <a:graphic>
              <a:graphicData uri="http://schemas.microsoft.com/office/powerpoint/2016/slidezoom">
                <pslz:sldZm>
                  <pslz:sldZmObj sldId="263" cId="484088470">
                    <pslz:zmPr id="{A359A563-BA25-4D39-B930-9426E9CF4054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00110" cy="4500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投影片縮放 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3A1443C7-EF21-9A47-74C1-85CAA12BC1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68235" y="1974514"/>
                <a:ext cx="800110" cy="4500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投影片縮放 8">
                <a:extLst>
                  <a:ext uri="{FF2B5EF4-FFF2-40B4-BE49-F238E27FC236}">
                    <a16:creationId xmlns:a16="http://schemas.microsoft.com/office/drawing/2014/main" id="{CBC2B6CA-B1F1-E63E-2037-41F8D922B3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8936565"/>
                  </p:ext>
                </p:extLst>
              </p:nvPr>
            </p:nvGraphicFramePr>
            <p:xfrm>
              <a:off x="5205790" y="3026228"/>
              <a:ext cx="716039" cy="402772"/>
            </p:xfrm>
            <a:graphic>
              <a:graphicData uri="http://schemas.microsoft.com/office/powerpoint/2016/slidezoom">
                <pslz:sldZm>
                  <pslz:sldZmObj sldId="264" cId="531047">
                    <pslz:zmPr id="{EDC10E76-CB07-4D69-B306-39F16157DC34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16039" cy="4027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投影片縮放 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CBC2B6CA-B1F1-E63E-2037-41F8D922B3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05790" y="3026228"/>
                <a:ext cx="716039" cy="4027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投影片縮放 10">
                <a:extLst>
                  <a:ext uri="{FF2B5EF4-FFF2-40B4-BE49-F238E27FC236}">
                    <a16:creationId xmlns:a16="http://schemas.microsoft.com/office/drawing/2014/main" id="{670C344A-F7DD-AC4A-3C6E-63190539D7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745508"/>
                  </p:ext>
                </p:extLst>
              </p:nvPr>
            </p:nvGraphicFramePr>
            <p:xfrm>
              <a:off x="6938551" y="4195415"/>
              <a:ext cx="800112" cy="450063"/>
            </p:xfrm>
            <a:graphic>
              <a:graphicData uri="http://schemas.microsoft.com/office/powerpoint/2016/slidezoom">
                <pslz:sldZm>
                  <pslz:sldZmObj sldId="265" cId="2951795262">
                    <pslz:zmPr id="{80F1C933-CAED-46A3-824E-B62016BF0E96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00112" cy="4500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投影片縮放 10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70C344A-F7DD-AC4A-3C6E-63190539D7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38551" y="4195415"/>
                <a:ext cx="800112" cy="4500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投影片縮放 5">
                <a:extLst>
                  <a:ext uri="{FF2B5EF4-FFF2-40B4-BE49-F238E27FC236}">
                    <a16:creationId xmlns:a16="http://schemas.microsoft.com/office/drawing/2014/main" id="{2863014F-2724-57FC-AB3B-CDF99D9B1F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9345195"/>
                  </p:ext>
                </p:extLst>
              </p:nvPr>
            </p:nvGraphicFramePr>
            <p:xfrm>
              <a:off x="2906486" y="5298620"/>
              <a:ext cx="716039" cy="402772"/>
            </p:xfrm>
            <a:graphic>
              <a:graphicData uri="http://schemas.microsoft.com/office/powerpoint/2016/slidezoom">
                <pslz:sldZm>
                  <pslz:sldZmObj sldId="267" cId="3412924438">
                    <pslz:zmPr id="{26E88800-702C-492B-856F-14739ADC4C6A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16039" cy="4027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投影片縮放 5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2863014F-2724-57FC-AB3B-CDF99D9B1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06486" y="5298620"/>
                <a:ext cx="716039" cy="4027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48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F2DD34-FA05-9554-B8ED-B3B45B5A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D41EF-99AA-49D2-E8C8-9F68157F8A0F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7260913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Principle Component Analysis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31E1D2-B907-07CA-48D5-D6CE94D7B446}"/>
              </a:ext>
            </a:extLst>
          </p:cNvPr>
          <p:cNvSpPr txBox="1"/>
          <p:nvPr/>
        </p:nvSpPr>
        <p:spPr>
          <a:xfrm>
            <a:off x="261257" y="903514"/>
            <a:ext cx="11930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TW" dirty="0"/>
              <a:t>Compressing 100-dimensional </a:t>
            </a:r>
            <a:r>
              <a:rPr lang="fr-FR" altLang="zh-TW" b="1" dirty="0"/>
              <a:t>T </a:t>
            </a:r>
            <a:r>
              <a:rPr lang="fr-FR" altLang="zh-TW" dirty="0"/>
              <a:t>&amp;</a:t>
            </a:r>
            <a:r>
              <a:rPr lang="fr-FR" altLang="zh-TW" b="1" dirty="0"/>
              <a:t> S </a:t>
            </a:r>
            <a:r>
              <a:rPr lang="fr-FR" altLang="zh-TW" dirty="0"/>
              <a:t>into a lower dimension for further analysis</a:t>
            </a:r>
          </a:p>
          <a:p>
            <a:r>
              <a:rPr lang="fr-FR" altLang="zh-TW" b="1" dirty="0"/>
              <a:t>We can infer some PC’s meaning by visualizing it: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F603A80-A5A0-CA5F-3D69-92D25B4ADDA3}"/>
              </a:ext>
            </a:extLst>
          </p:cNvPr>
          <p:cNvGrpSpPr/>
          <p:nvPr/>
        </p:nvGrpSpPr>
        <p:grpSpPr>
          <a:xfrm>
            <a:off x="5301343" y="1226679"/>
            <a:ext cx="6482869" cy="2758525"/>
            <a:chOff x="4500817" y="1238065"/>
            <a:chExt cx="6482869" cy="275852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53D00B3-9DE9-FF09-6191-A16D7F5EB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5807" y="1238065"/>
              <a:ext cx="3007879" cy="2758525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D432638-AAC9-EDBE-8992-8E14B732E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0817" y="1238065"/>
              <a:ext cx="3398790" cy="2758525"/>
            </a:xfrm>
            <a:prstGeom prst="rect">
              <a:avLst/>
            </a:prstGeom>
          </p:spPr>
        </p:pic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6C1AC87-917C-7466-B3B6-A5AFB043803D}"/>
              </a:ext>
            </a:extLst>
          </p:cNvPr>
          <p:cNvGrpSpPr/>
          <p:nvPr/>
        </p:nvGrpSpPr>
        <p:grpSpPr>
          <a:xfrm>
            <a:off x="251593" y="4059692"/>
            <a:ext cx="6749145" cy="2692169"/>
            <a:chOff x="4081717" y="3686850"/>
            <a:chExt cx="6749145" cy="2692169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EF4C548-F232-ABDA-61A9-D9ADEF1E0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81717" y="3686850"/>
              <a:ext cx="3398790" cy="2692169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2298F600-5F5F-C65D-5AC7-FF3A2C52C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56707" y="3762525"/>
              <a:ext cx="3274155" cy="2616494"/>
            </a:xfrm>
            <a:prstGeom prst="rect">
              <a:avLst/>
            </a:prstGeom>
          </p:spPr>
        </p:pic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3DDEC8B-5420-F4C5-A1EA-1B0CCEE832A3}"/>
              </a:ext>
            </a:extLst>
          </p:cNvPr>
          <p:cNvSpPr txBox="1"/>
          <p:nvPr/>
        </p:nvSpPr>
        <p:spPr>
          <a:xfrm>
            <a:off x="7522168" y="4787782"/>
            <a:ext cx="44182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Figure 5. PC3 appears to represent a regional salinity-structure mode. In particular, the western tropical Pacific and maritime-continent side tend to cluster on one end of the component, while parts of the central/eastern Pacific and higher southern latitudes cluster on the other. This suggests that PC3 is associated with </a:t>
            </a:r>
            <a:r>
              <a:rPr lang="en-US" altLang="zh-TW" sz="1400" b="1" dirty="0"/>
              <a:t>basin-scale regional </a:t>
            </a:r>
            <a:r>
              <a:rPr lang="en-US" altLang="zh-TW" sz="1400" dirty="0"/>
              <a:t>contrasts.</a:t>
            </a:r>
          </a:p>
          <a:p>
            <a:pPr>
              <a:buNone/>
            </a:pPr>
            <a:endParaRPr lang="en-US" altLang="zh-TW" sz="1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696B29-CEAC-4F7E-0AC2-C0805FC719E3}"/>
              </a:ext>
            </a:extLst>
          </p:cNvPr>
          <p:cNvSpPr txBox="1"/>
          <p:nvPr/>
        </p:nvSpPr>
        <p:spPr>
          <a:xfrm>
            <a:off x="481692" y="2199023"/>
            <a:ext cx="48196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400" dirty="0"/>
              <a:t>Figure 4. Temperature PC1 mainly captures the overall </a:t>
            </a:r>
            <a:r>
              <a:rPr lang="en-US" altLang="zh-TW" sz="1400" b="1" dirty="0"/>
              <a:t>upper-ocean temperature leve</a:t>
            </a:r>
            <a:r>
              <a:rPr lang="en-US" altLang="zh-TW" sz="1400" dirty="0"/>
              <a:t>l. Profiles with high PC1 scores are warmer throughout the water column, especially near the surface, whereas profiles with low PC1 scores are cooler.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投影片縮放 5">
                <a:extLst>
                  <a:ext uri="{FF2B5EF4-FFF2-40B4-BE49-F238E27FC236}">
                    <a16:creationId xmlns:a16="http://schemas.microsoft.com/office/drawing/2014/main" id="{E936CFC9-675A-8A18-4201-315B231E34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8639332"/>
                  </p:ext>
                </p:extLst>
              </p:nvPr>
            </p:nvGraphicFramePr>
            <p:xfrm>
              <a:off x="8144962" y="348117"/>
              <a:ext cx="1262742" cy="710292"/>
            </p:xfrm>
            <a:graphic>
              <a:graphicData uri="http://schemas.microsoft.com/office/powerpoint/2016/slidezoom">
                <pslz:sldZm>
                  <pslz:sldZmObj sldId="269" cId="3457369848">
                    <pslz:zmPr id="{84116E0D-E7DE-47CC-895C-476C92246628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2742" cy="71029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投影片縮放 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E936CFC9-675A-8A18-4201-315B231E34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44962" y="348117"/>
                <a:ext cx="1262742" cy="71029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C4BB2470-20F3-36E1-C43E-101D454A663A}"/>
              </a:ext>
            </a:extLst>
          </p:cNvPr>
          <p:cNvSpPr txBox="1"/>
          <p:nvPr/>
        </p:nvSpPr>
        <p:spPr>
          <a:xfrm>
            <a:off x="7773762" y="100448"/>
            <a:ext cx="2164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Mathematical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292521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BA6543-4C7C-D592-CDAF-FCC5D38A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F85C8-DE54-AD5A-BDE4-94E8ABA10988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Principle Component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BF3F646-84E3-6F4C-4C13-414CEE6163FB}"/>
                  </a:ext>
                </a:extLst>
              </p:cNvPr>
              <p:cNvSpPr txBox="1"/>
              <p:nvPr/>
            </p:nvSpPr>
            <p:spPr>
              <a:xfrm>
                <a:off x="484416" y="1447799"/>
                <a:ext cx="7717970" cy="42168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 ∈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TW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be the data wanted to be compressed</a:t>
                </a:r>
              </a:p>
              <a:p>
                <a:endParaRPr lang="en-US" altLang="zh-TW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2400" b="0" dirty="0"/>
                  <a:t>Center the data by minus the mean 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sz="2400" b="0" dirty="0"/>
              </a:p>
              <a:p>
                <a:endParaRPr lang="en-US" altLang="zh-TW" sz="2400" b="0" dirty="0"/>
              </a:p>
              <a:p>
                <a:r>
                  <a:rPr lang="en-US" altLang="zh-TW" sz="2400" b="0" dirty="0"/>
                  <a:t>Compute the covariance matrix: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altLang="zh-TW" sz="2400" b="0" dirty="0"/>
              </a:p>
              <a:p>
                <a:endParaRPr lang="en-US" altLang="zh-TW" sz="2400" b="0" dirty="0"/>
              </a:p>
              <a:p>
                <a:r>
                  <a:rPr lang="en-US" altLang="zh-TW" sz="2400" b="0" dirty="0"/>
                  <a:t>Applying Eigen-Decomposition</a:t>
                </a:r>
                <a:r>
                  <a:rPr lang="en-US" altLang="zh-TW" sz="2400" dirty="0"/>
                  <a:t>: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l-GR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r>
                  <a:rPr lang="en-US" altLang="zh-TW" sz="2400" b="0" dirty="0">
                    <a:ea typeface="Cambria Math" panose="02040503050406030204" pitchFamily="18" charset="0"/>
                  </a:rPr>
                  <a:t>Select top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eigen-vector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b="0" dirty="0">
                    <a:ea typeface="Cambria Math" panose="020405030504060302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r>
                  <a:rPr lang="en-US" altLang="zh-TW" sz="2400" dirty="0">
                    <a:ea typeface="Cambria Math" panose="02040503050406030204" pitchFamily="18" charset="0"/>
                  </a:rPr>
                  <a:t>Project the data into lower vector space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endParaRPr lang="en-US" altLang="zh-TW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BF3F646-84E3-6F4C-4C13-414CEE616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6" y="1447799"/>
                <a:ext cx="7717970" cy="4216860"/>
              </a:xfrm>
              <a:prstGeom prst="rect">
                <a:avLst/>
              </a:prstGeom>
              <a:blipFill>
                <a:blip r:embed="rId2"/>
                <a:stretch>
                  <a:fillRect l="-2368" t="-2168" b="-3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31A76E8-34B3-3706-34CA-E9BD626BF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9" r="28229"/>
          <a:stretch>
            <a:fillRect/>
          </a:stretch>
        </p:blipFill>
        <p:spPr bwMode="auto">
          <a:xfrm>
            <a:off x="7701642" y="598714"/>
            <a:ext cx="3766456" cy="352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6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9845-AC1C-3EDF-F71F-55DB2595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B894AB-BCE3-98F9-E703-AA6F42793DBB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Canonical Correlation Analysis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02CB389-C525-263D-AC56-C281C910EE18}"/>
              </a:ext>
            </a:extLst>
          </p:cNvPr>
          <p:cNvGrpSpPr/>
          <p:nvPr/>
        </p:nvGrpSpPr>
        <p:grpSpPr>
          <a:xfrm>
            <a:off x="5668640" y="1152191"/>
            <a:ext cx="6099331" cy="2452341"/>
            <a:chOff x="5657754" y="1034854"/>
            <a:chExt cx="6099331" cy="2452341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0D4F7B8-B526-29A1-2DC9-EF599F89E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7754" y="1034854"/>
              <a:ext cx="3029045" cy="2452341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76A120B8-0366-6ED3-72F0-0DA9C197D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798" y="1034855"/>
              <a:ext cx="3070287" cy="2425314"/>
            </a:xfrm>
            <a:prstGeom prst="rect">
              <a:avLst/>
            </a:prstGeom>
          </p:spPr>
        </p:pic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CBD5FD06-1144-E504-C954-7718E4FDE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55" y="1034854"/>
            <a:ext cx="5106683" cy="4607634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93122DCB-3F8D-6A3C-9155-0C0B1EEC4FA7}"/>
              </a:ext>
            </a:extLst>
          </p:cNvPr>
          <p:cNvSpPr txBox="1"/>
          <p:nvPr/>
        </p:nvSpPr>
        <p:spPr>
          <a:xfrm>
            <a:off x="4417394" y="3936393"/>
            <a:ext cx="81556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CCA component captures the temperature–salinity pattern in the Pacific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Separates warm tropical/subtropical profiles from cold high-latitude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Strongest temperature contrast occurs in the upper 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Salinity pattern reflects upper-to-intermediate stratification differences, not just overall salty vs 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q = 4: kept the leading profile structure while avoiding noisy higher-order PCs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Strong canonical correlation (0.888) indicates a robust large-scale coupled mode</a:t>
            </a:r>
            <a:endParaRPr lang="zh-TW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投影片縮放 3">
                <a:extLst>
                  <a:ext uri="{FF2B5EF4-FFF2-40B4-BE49-F238E27FC236}">
                    <a16:creationId xmlns:a16="http://schemas.microsoft.com/office/drawing/2014/main" id="{6E97A256-3F3A-DEBC-956C-984519975F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9606528"/>
                  </p:ext>
                </p:extLst>
              </p:nvPr>
            </p:nvGraphicFramePr>
            <p:xfrm>
              <a:off x="7820281" y="356742"/>
              <a:ext cx="1095120" cy="616005"/>
            </p:xfrm>
            <a:graphic>
              <a:graphicData uri="http://schemas.microsoft.com/office/powerpoint/2016/slidezoom">
                <pslz:sldZm>
                  <pslz:sldZmObj sldId="270" cId="286912313">
                    <pslz:zmPr id="{BD46F1E0-F894-4C6E-B3A7-B78A9C4BB54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95120" cy="6160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投影片縮放 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E97A256-3F3A-DEBC-956C-984519975F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0281" y="356742"/>
                <a:ext cx="1095120" cy="6160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3F0F1A7B-7905-DFE8-605F-A635432B7394}"/>
              </a:ext>
            </a:extLst>
          </p:cNvPr>
          <p:cNvSpPr txBox="1"/>
          <p:nvPr/>
        </p:nvSpPr>
        <p:spPr>
          <a:xfrm>
            <a:off x="7412748" y="87075"/>
            <a:ext cx="2164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Mathematical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48408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2570B6-B58E-F7B1-DFF8-4691BDF6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73C472-F9FD-B568-8B55-8452770503CB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Canonical Correlation Analysis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496A7-B5DE-5C92-7FBF-CAEF6474945E}"/>
              </a:ext>
            </a:extLst>
          </p:cNvPr>
          <p:cNvSpPr txBox="1"/>
          <p:nvPr/>
        </p:nvSpPr>
        <p:spPr>
          <a:xfrm>
            <a:off x="261254" y="967525"/>
            <a:ext cx="94923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Constraint of PCA: Maximize variance within </a:t>
            </a:r>
            <a:r>
              <a:rPr lang="en-US" altLang="zh-TW" b="1" dirty="0"/>
              <a:t>one</a:t>
            </a:r>
            <a:r>
              <a:rPr lang="en-US" altLang="zh-TW" dirty="0"/>
              <a:t> dataset</a:t>
            </a:r>
          </a:p>
          <a:p>
            <a:r>
              <a:rPr lang="en-US" altLang="zh-TW" dirty="0"/>
              <a:t>What if we want to know the correlation between two datasets? </a:t>
            </a:r>
            <a:r>
              <a:rPr lang="en-US" altLang="zh-TW" b="1" dirty="0"/>
              <a:t>Canonical Correlation Analysis</a:t>
            </a:r>
          </a:p>
          <a:p>
            <a:endParaRPr lang="en-US" altLang="zh-TW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C063A56-35B0-F878-F1C7-E740A008E353}"/>
                  </a:ext>
                </a:extLst>
              </p:cNvPr>
              <p:cNvSpPr txBox="1"/>
              <p:nvPr/>
            </p:nvSpPr>
            <p:spPr>
              <a:xfrm>
                <a:off x="353787" y="1680714"/>
                <a:ext cx="11685813" cy="4752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Want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to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find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Xa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Yb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maximize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correlation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corr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r>
                  <a:rPr lang="en-US" altLang="zh-TW" sz="2400" dirty="0">
                    <a:ea typeface="Cambria Math" panose="02040503050406030204" pitchFamily="18" charset="0"/>
                  </a:rPr>
                  <a:t>The optimization become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altLang="zh-TW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altLang="zh-TW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XY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YY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US" altLang="zh-TW" sz="2400" dirty="0">
                  <a:ea typeface="Cambria Math" panose="02040503050406030204" pitchFamily="18" charset="0"/>
                </a:endParaRPr>
              </a:p>
              <a:p>
                <a:endParaRPr lang="en-US" altLang="zh-TW" sz="2400" dirty="0">
                  <a:ea typeface="Cambria Math" panose="02040503050406030204" pitchFamily="18" charset="0"/>
                </a:endParaRPr>
              </a:p>
              <a:p>
                <a:r>
                  <a:rPr lang="en-US" altLang="zh-TW" sz="2400" dirty="0">
                    <a:ea typeface="Cambria Math" panose="02040503050406030204" pitchFamily="18" charset="0"/>
                  </a:rPr>
                  <a:t>This leads to a generalized eigenvalue problem: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XX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l-GR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YY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l-GR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YX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TW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, ...</m:t>
                    </m:r>
                  </m:oMath>
                </a14:m>
                <a:r>
                  <a:rPr lang="en-US" altLang="zh-TW" sz="2400" dirty="0"/>
                  <a:t> is</a:t>
                </a:r>
                <a:r>
                  <a:rPr lang="zh-TW" altLang="en-US" sz="2400" dirty="0"/>
                  <a:t> </a:t>
                </a:r>
                <a:r>
                  <a:rPr lang="en-US" altLang="zh-TW" sz="2400" b="1" dirty="0"/>
                  <a:t>canonical directions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1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altLang="zh-TW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TW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YY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l-GR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XX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l-GR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, ...</m:t>
                    </m:r>
                  </m:oMath>
                </a14:m>
                <a:r>
                  <a:rPr lang="en-US" altLang="zh-TW" sz="2400" dirty="0"/>
                  <a:t> is</a:t>
                </a:r>
                <a:r>
                  <a:rPr lang="zh-TW" altLang="en-US" sz="2400" dirty="0"/>
                  <a:t> </a:t>
                </a:r>
                <a:r>
                  <a:rPr lang="en-US" altLang="zh-TW" sz="2400" b="1" dirty="0"/>
                  <a:t>canonical directions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1" i="1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2400" dirty="0"/>
                  <a:t>The vectors a and b tell us how to combine the variables in X and Y </a:t>
                </a:r>
                <a:r>
                  <a:rPr lang="en-US" altLang="zh-TW" sz="2400" dirty="0" err="1"/>
                  <a:t>st.</a:t>
                </a:r>
                <a:r>
                  <a:rPr lang="en-US" altLang="zh-TW" sz="2400" dirty="0"/>
                  <a:t> the resulting projected scores are as </a:t>
                </a:r>
                <a:r>
                  <a:rPr lang="en-US" altLang="zh-TW" sz="2400" b="1" dirty="0"/>
                  <a:t>highly</a:t>
                </a:r>
                <a:r>
                  <a:rPr lang="en-US" altLang="zh-TW" sz="2400" dirty="0"/>
                  <a:t> correlated as possible.</a:t>
                </a:r>
              </a:p>
              <a:p>
                <a:endParaRPr lang="en-US" altLang="zh-TW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C063A56-35B0-F878-F1C7-E740A008E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87" y="1680714"/>
                <a:ext cx="11685813" cy="4752776"/>
              </a:xfrm>
              <a:prstGeom prst="rect">
                <a:avLst/>
              </a:prstGeom>
              <a:blipFill>
                <a:blip r:embed="rId3"/>
                <a:stretch>
                  <a:fillRect l="-1565" r="-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投影片縮放 9">
                <a:extLst>
                  <a:ext uri="{FF2B5EF4-FFF2-40B4-BE49-F238E27FC236}">
                    <a16:creationId xmlns:a16="http://schemas.microsoft.com/office/drawing/2014/main" id="{9EC1156D-2E6D-FF24-8BA3-7A6C2F8F95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6885638"/>
                  </p:ext>
                </p:extLst>
              </p:nvPr>
            </p:nvGraphicFramePr>
            <p:xfrm>
              <a:off x="9517781" y="254336"/>
              <a:ext cx="2244231" cy="1262380"/>
            </p:xfrm>
            <a:graphic>
              <a:graphicData uri="http://schemas.microsoft.com/office/powerpoint/2016/slidezoom">
                <pslz:sldZm>
                  <pslz:sldZmObj sldId="273" cId="901191749">
                    <pslz:zmPr id="{57B1455B-D580-4A97-87EB-B00F4CED296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44231" cy="126238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投影片縮放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EC1156D-2E6D-FF24-8BA3-7A6C2F8F95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17781" y="254336"/>
                <a:ext cx="2244231" cy="126238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91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BB28EF-00BF-C965-525B-ED87CC12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7EBAC-169D-220E-CE81-DAC5CD917926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Canonical Correlation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6BA1F9-8989-5F23-F80A-6DF237926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630" y="1065105"/>
            <a:ext cx="7944528" cy="50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19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B8A9-8466-740F-1DAA-C743A26E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C8502-BEAF-8DF8-5FAF-F8B33FF7AC2C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Sliced Inverse Regression 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2DAFE52-EFE8-4F07-5182-70941C47D1EA}"/>
              </a:ext>
            </a:extLst>
          </p:cNvPr>
          <p:cNvSpPr txBox="1"/>
          <p:nvPr/>
        </p:nvSpPr>
        <p:spPr>
          <a:xfrm>
            <a:off x="758307" y="4589536"/>
            <a:ext cx="108500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Temperature loadings: </a:t>
            </a:r>
            <a:r>
              <a:rPr lang="en-US" altLang="zh-TW" dirty="0"/>
              <a:t>the strongest latitude-related signal is concentrated in the upper to mid-depth 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Temperature SIR scores: </a:t>
            </a:r>
            <a:r>
              <a:rPr lang="en-US" altLang="zh-TW" dirty="0"/>
              <a:t>the first two components vary clearly and nonlinearly with latitude. This indicates that temperature profiles differ systematically across latitude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Salinity loadings: </a:t>
            </a:r>
            <a:r>
              <a:rPr lang="en-US" altLang="zh-TW" dirty="0"/>
              <a:t>latitude-related structure is present, but weaker and more localized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Salinity SIR scores: </a:t>
            </a:r>
            <a:r>
              <a:rPr lang="en-US" altLang="zh-TW" dirty="0"/>
              <a:t>variation with latitude is much flatter than for temperature</a:t>
            </a:r>
            <a:endParaRPr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305217A4-9CA8-E907-E8A0-9D827B3F0A79}"/>
              </a:ext>
            </a:extLst>
          </p:cNvPr>
          <p:cNvGrpSpPr/>
          <p:nvPr/>
        </p:nvGrpSpPr>
        <p:grpSpPr>
          <a:xfrm>
            <a:off x="142995" y="1303628"/>
            <a:ext cx="11906009" cy="3134471"/>
            <a:chOff x="503706" y="966810"/>
            <a:chExt cx="11064841" cy="272283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B6948C1-036A-0F89-AA5B-E38F60C31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0619" y="985275"/>
              <a:ext cx="3337928" cy="2704367"/>
            </a:xfrm>
            <a:prstGeom prst="rect">
              <a:avLst/>
            </a:prstGeom>
          </p:spPr>
        </p:pic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62A8CD1-9615-315D-2DC6-C5DEA2A6138B}"/>
                </a:ext>
              </a:extLst>
            </p:cNvPr>
            <p:cNvGrpSpPr/>
            <p:nvPr/>
          </p:nvGrpSpPr>
          <p:grpSpPr>
            <a:xfrm>
              <a:off x="503706" y="966810"/>
              <a:ext cx="7533936" cy="2667168"/>
              <a:chOff x="435595" y="969696"/>
              <a:chExt cx="7533936" cy="2667168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D60DAA1E-6C0C-EA02-60C1-D94FC9608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595" y="988161"/>
                <a:ext cx="3708579" cy="2630238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657C5865-BE9C-3950-9467-37651417C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0952" y="969696"/>
                <a:ext cx="3708579" cy="2667168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投影片縮放 4">
                <a:extLst>
                  <a:ext uri="{FF2B5EF4-FFF2-40B4-BE49-F238E27FC236}">
                    <a16:creationId xmlns:a16="http://schemas.microsoft.com/office/drawing/2014/main" id="{B317FE93-A412-8D85-6B25-F548E5F769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6014138"/>
                  </p:ext>
                </p:extLst>
              </p:nvPr>
            </p:nvGraphicFramePr>
            <p:xfrm>
              <a:off x="7090938" y="499887"/>
              <a:ext cx="936172" cy="526597"/>
            </p:xfrm>
            <a:graphic>
              <a:graphicData uri="http://schemas.microsoft.com/office/powerpoint/2016/slidezoom">
                <pslz:sldZm>
                  <pslz:sldZmObj sldId="271" cId="1510236198">
                    <pslz:zmPr id="{F2910F31-B9F1-4AE1-900C-DA4503CA1C9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36172" cy="52659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投影片縮放 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317FE93-A412-8D85-6B25-F548E5F769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90938" y="499887"/>
                <a:ext cx="936172" cy="52659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82F8ED05-90D9-98C2-47D6-E108C597823E}"/>
              </a:ext>
            </a:extLst>
          </p:cNvPr>
          <p:cNvSpPr txBox="1"/>
          <p:nvPr/>
        </p:nvSpPr>
        <p:spPr>
          <a:xfrm>
            <a:off x="6476576" y="192110"/>
            <a:ext cx="2164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Mathematical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531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C0ED96-C4AD-D3BC-F2E6-B2DA28C2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BA231-0A86-B3C7-77DA-8E89A40E8360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Sliced Inverse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BB97BF7-4213-5A2A-58AD-DC51E6F73827}"/>
                  </a:ext>
                </a:extLst>
              </p:cNvPr>
              <p:cNvSpPr txBox="1"/>
              <p:nvPr/>
            </p:nvSpPr>
            <p:spPr>
              <a:xfrm>
                <a:off x="753836" y="2868317"/>
                <a:ext cx="11438164" cy="33541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400" dirty="0">
                    <a:ea typeface="Cambria Math" panose="02040503050406030204" pitchFamily="18" charset="0"/>
                  </a:rPr>
                  <a:t>We want to know given a certain level of Y, what’s the expectation of X, </a:t>
                </a:r>
              </a:p>
              <a:p>
                <a:r>
                  <a:rPr lang="en-US" altLang="zh-TW" sz="2400" dirty="0">
                    <a:ea typeface="Cambria Math" panose="02040503050406030204" pitchFamily="18" charset="0"/>
                  </a:rPr>
                  <a:t>i.e.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TW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interval of Y</a:t>
                </a:r>
              </a:p>
              <a:p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then, M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and doing eigen-decomposition on matrix M</a:t>
                </a:r>
              </a:p>
              <a:p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𝑀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𝜈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𝜆𝜈</m:t>
                    </m:r>
                  </m:oMath>
                </a14:m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Dimension reduction on X by letting Z = XB,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[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à"/>
                </a:pPr>
                <a:endParaRPr lang="en-US" altLang="zh-TW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à"/>
                </a:pPr>
                <a:r>
                  <a:rPr lang="en-US" altLang="zh-TW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can visual</a:t>
                </a:r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ize (Y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or (Y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to see the relation between </a:t>
                </a:r>
                <a:r>
                  <a:rPr lang="en-US" altLang="zh-TW" sz="2400" dirty="0"/>
                  <a:t>response &amp;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reduced predictors</a:t>
                </a:r>
                <a:endParaRPr lang="en-US" altLang="zh-TW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BB97BF7-4213-5A2A-58AD-DC51E6F7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36" y="2868317"/>
                <a:ext cx="11438164" cy="3354123"/>
              </a:xfrm>
              <a:prstGeom prst="rect">
                <a:avLst/>
              </a:prstGeom>
              <a:blipFill>
                <a:blip r:embed="rId3"/>
                <a:stretch>
                  <a:fillRect l="-1652" t="-2909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F1CCA7FB-51EC-C07E-562C-5158A0169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676" y="277896"/>
            <a:ext cx="4754431" cy="244353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B5C780B-FE01-6015-6A45-4E7AB1F5AEBB}"/>
              </a:ext>
            </a:extLst>
          </p:cNvPr>
          <p:cNvSpPr txBox="1"/>
          <p:nvPr/>
        </p:nvSpPr>
        <p:spPr>
          <a:xfrm>
            <a:off x="473528" y="1496588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ea typeface="Cambria Math" panose="02040503050406030204" pitchFamily="18" charset="0"/>
              </a:rPr>
              <a:t>Another method to understand the relationship between X, Y &amp; dimension reduction is Sliced Inverse Regression.</a:t>
            </a:r>
          </a:p>
        </p:txBody>
      </p:sp>
    </p:spTree>
    <p:extLst>
      <p:ext uri="{BB962C8B-B14F-4D97-AF65-F5344CB8AC3E}">
        <p14:creationId xmlns:p14="http://schemas.microsoft.com/office/powerpoint/2010/main" val="151023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308C-93DB-4E6F-0D25-EA3F94A6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05C2C6-A0B9-3624-CCAF-379C33FD53C8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Minimum Covariance Determinant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5DBA62AC-A682-6C05-DD5C-AA47904C182B}"/>
              </a:ext>
            </a:extLst>
          </p:cNvPr>
          <p:cNvGrpSpPr/>
          <p:nvPr/>
        </p:nvGrpSpPr>
        <p:grpSpPr>
          <a:xfrm>
            <a:off x="76202" y="3371097"/>
            <a:ext cx="5889169" cy="2645825"/>
            <a:chOff x="650501" y="1001157"/>
            <a:chExt cx="7779762" cy="3340318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E1DAD02-5321-6851-C2EC-E30D07383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501" y="1001157"/>
              <a:ext cx="3536807" cy="3340318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75A97212-D443-0C6F-2541-63E0634E4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1241" y="1152191"/>
              <a:ext cx="4149022" cy="3189284"/>
            </a:xfrm>
            <a:prstGeom prst="rect">
              <a:avLst/>
            </a:prstGeom>
          </p:spPr>
        </p:pic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F720141-E63D-E900-0B96-10BE05B84D69}"/>
              </a:ext>
            </a:extLst>
          </p:cNvPr>
          <p:cNvGrpSpPr/>
          <p:nvPr/>
        </p:nvGrpSpPr>
        <p:grpSpPr>
          <a:xfrm>
            <a:off x="6036476" y="3400876"/>
            <a:ext cx="6096000" cy="2516868"/>
            <a:chOff x="261255" y="3796846"/>
            <a:chExt cx="6717393" cy="2961243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5B321302-2F08-4995-41D6-41C259C96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255" y="3796846"/>
              <a:ext cx="3135434" cy="2961243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FB47A140-96DC-4FDD-C622-FFF87227F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6689" y="4004697"/>
              <a:ext cx="3581959" cy="2753392"/>
            </a:xfrm>
            <a:prstGeom prst="rect">
              <a:avLst/>
            </a:prstGeom>
          </p:spPr>
        </p:pic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3899FAA-794A-5AB4-8696-AEC6263B7A52}"/>
              </a:ext>
            </a:extLst>
          </p:cNvPr>
          <p:cNvSpPr txBox="1"/>
          <p:nvPr/>
        </p:nvSpPr>
        <p:spPr>
          <a:xfrm>
            <a:off x="1240971" y="1463164"/>
            <a:ext cx="9710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Treat each temperature or salinity profile as a high-dimensional vector over pressure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Use MCD to estimate a robust mean and covariance from the most compact subset of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Compute </a:t>
            </a:r>
            <a:r>
              <a:rPr lang="en-US" altLang="zh-TW" b="1" dirty="0" err="1"/>
              <a:t>Mahalanobis</a:t>
            </a:r>
            <a:r>
              <a:rPr lang="en-US" altLang="zh-TW" b="1" dirty="0"/>
              <a:t> depth to identify profiles far from the robust data center.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Outlying profiles are geographically clustered rather than randomly scattered.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Salinity outliers are especially pronounced, with several profiles showing extremely low values.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投影片縮放 3">
                <a:extLst>
                  <a:ext uri="{FF2B5EF4-FFF2-40B4-BE49-F238E27FC236}">
                    <a16:creationId xmlns:a16="http://schemas.microsoft.com/office/drawing/2014/main" id="{D150AD13-02F1-CDC4-F506-150B4EBBED6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5215151"/>
                  </p:ext>
                </p:extLst>
              </p:nvPr>
            </p:nvGraphicFramePr>
            <p:xfrm>
              <a:off x="9422705" y="501169"/>
              <a:ext cx="891752" cy="501611"/>
            </p:xfrm>
            <a:graphic>
              <a:graphicData uri="http://schemas.microsoft.com/office/powerpoint/2016/slidezoom">
                <pslz:sldZm>
                  <pslz:sldZmObj sldId="272" cId="3240539896">
                    <pslz:zmPr id="{007E9DC6-E130-4641-9D37-021245874523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91752" cy="50161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投影片縮放 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D150AD13-02F1-CDC4-F506-150B4EBBED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22705" y="501169"/>
                <a:ext cx="891752" cy="50161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CDC92CAA-9992-C838-A66B-92E91844679A}"/>
              </a:ext>
            </a:extLst>
          </p:cNvPr>
          <p:cNvSpPr txBox="1"/>
          <p:nvPr/>
        </p:nvSpPr>
        <p:spPr>
          <a:xfrm>
            <a:off x="8786133" y="199508"/>
            <a:ext cx="2164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Mathematical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135750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93A3A0-F3E5-41B0-6330-77A622FF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B920A-77C8-BD70-A978-19BBAE3BAA52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Minimum Covariance Determinant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96FD70-FBDD-36B8-F434-927BC7FAE5DE}"/>
              </a:ext>
            </a:extLst>
          </p:cNvPr>
          <p:cNvSpPr txBox="1"/>
          <p:nvPr/>
        </p:nvSpPr>
        <p:spPr>
          <a:xfrm>
            <a:off x="261255" y="1045419"/>
            <a:ext cx="11816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Why not use Euclidean distance as the distance metric?</a:t>
            </a:r>
            <a:r>
              <a:rPr lang="en-US" altLang="zh-TW" b="1" dirty="0"/>
              <a:t> It treats all variables equally and ignores covariance structure. </a:t>
            </a:r>
          </a:p>
          <a:p>
            <a:r>
              <a:rPr lang="en-US" altLang="zh-TW" dirty="0"/>
              <a:t>Therefore, we introduce </a:t>
            </a:r>
            <a:r>
              <a:rPr lang="en-US" altLang="zh-TW" b="1" dirty="0" err="1"/>
              <a:t>Mahalanobis</a:t>
            </a:r>
            <a:r>
              <a:rPr lang="en-US" altLang="zh-TW" dirty="0"/>
              <a:t> distance: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C332639-B60A-B826-0FD3-D7E194769738}"/>
                  </a:ext>
                </a:extLst>
              </p:cNvPr>
              <p:cNvSpPr txBox="1"/>
              <p:nvPr/>
            </p:nvSpPr>
            <p:spPr>
              <a:xfrm>
                <a:off x="261255" y="1834417"/>
                <a:ext cx="12005582" cy="4431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400" dirty="0" err="1"/>
                  <a:t>Mahalanobis</a:t>
                </a:r>
                <a:r>
                  <a:rPr lang="en-US" altLang="zh-TW" sz="2400" dirty="0"/>
                  <a:t> distance: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altLang="zh-TW" sz="2400" b="0" dirty="0"/>
              </a:p>
              <a:p>
                <a:endParaRPr lang="en-US" altLang="zh-TW" sz="2400" dirty="0"/>
              </a:p>
              <a:p>
                <a:r>
                  <a:rPr lang="en-US" altLang="zh-TW" sz="2400" b="0" dirty="0"/>
                  <a:t>However, </a:t>
                </a:r>
                <a:r>
                  <a:rPr lang="en-US" altLang="zh-TW" sz="2400" dirty="0"/>
                  <a:t>this can fail if there are outliers, because outliers can distort both: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estimated center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estimated covariance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r>
                  <a:rPr lang="en-US" altLang="zh-TW" sz="2400" dirty="0"/>
                  <a:t>Therefore, we want to use </a:t>
                </a:r>
                <a:r>
                  <a:rPr lang="en-US" altLang="zh-TW" sz="2400" b="1" dirty="0"/>
                  <a:t>MCD</a:t>
                </a:r>
                <a:r>
                  <a:rPr lang="en-US" altLang="zh-TW" sz="2400" dirty="0"/>
                  <a:t> to resolve this potential problem:</a:t>
                </a:r>
              </a:p>
              <a:p>
                <a:r>
                  <a:rPr lang="en-US" altLang="zh-TW" sz="2400" dirty="0"/>
                  <a:t>Formally, MCD looks for a s</a:t>
                </a:r>
                <a:r>
                  <a:rPr lang="en-US" altLang="zh-TW" sz="2400" dirty="0">
                    <a:latin typeface="Cambria Math" panose="02040503050406030204" pitchFamily="18" charset="0"/>
                  </a:rPr>
                  <a:t>ubset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i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</a:rPr>
                  <a:t> that minimizes</a:t>
                </a:r>
                <a14:m>
                  <m:oMath xmlns:m="http://schemas.openxmlformats.org/officeDocument/2006/math">
                    <m:r>
                      <a:rPr lang="en-US" altLang="zh-TW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zh-TW" sz="2400" i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2400" i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ar-AE" sz="2400" i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>
                  <a:latin typeface="Cambria Math" panose="02040503050406030204" pitchFamily="18" charset="0"/>
                </a:endParaRPr>
              </a:p>
              <a:p>
                <a:endParaRPr lang="en-US" altLang="zh-TW" sz="2400" dirty="0">
                  <a:latin typeface="Cambria Math" panose="02040503050406030204" pitchFamily="18" charset="0"/>
                </a:endParaRPr>
              </a:p>
              <a:p>
                <a:r>
                  <a:rPr lang="en-US" altLang="zh-TW" sz="2400" dirty="0">
                    <a:latin typeface="Cambria Math" panose="02040503050406030204" pitchFamily="18" charset="0"/>
                  </a:rPr>
                  <a:t>Why minimizing determinant? </a:t>
                </a:r>
                <a:r>
                  <a:rPr lang="en-US" altLang="zh-TW" sz="2400" b="1" dirty="0"/>
                  <a:t>Find the most compact, most concentrated subset of the data.</a:t>
                </a:r>
                <a:endParaRPr lang="ar-AE" altLang="zh-TW" sz="2400" b="1" dirty="0">
                  <a:latin typeface="Cambria Math" panose="02040503050406030204" pitchFamily="18" charset="0"/>
                </a:endParaRPr>
              </a:p>
              <a:p>
                <a:endParaRPr lang="en-US" altLang="zh-TW" sz="2400" dirty="0"/>
              </a:p>
              <a:p>
                <a:r>
                  <a:rPr lang="en-US" altLang="zh-TW" sz="2400" b="0" dirty="0"/>
                  <a:t>Robust location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𝑀𝐶𝐷</m:t>
                        </m:r>
                      </m:sub>
                    </m:sSub>
                  </m:oMath>
                </a14:m>
                <a:r>
                  <a:rPr lang="en-US" altLang="zh-TW" sz="2400" b="0" dirty="0"/>
                  <a:t> ​&amp; robust covariance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𝑀𝐶𝐷</m:t>
                        </m:r>
                      </m:sub>
                    </m:sSub>
                  </m:oMath>
                </a14:m>
                <a:endParaRPr lang="en-US" altLang="zh-TW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C332639-B60A-B826-0FD3-D7E194769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5" y="1834417"/>
                <a:ext cx="12005582" cy="4431983"/>
              </a:xfrm>
              <a:prstGeom prst="rect">
                <a:avLst/>
              </a:prstGeom>
              <a:blipFill>
                <a:blip r:embed="rId3"/>
                <a:stretch>
                  <a:fillRect l="-1574" t="-2201" r="-457" b="-3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53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B34F1-F51F-D423-3521-12E03E16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D273C-872A-314D-11EC-3D0D7880A447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Support Points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34A4A9E-D19F-02E1-265F-D2D7D58FC86C}"/>
              </a:ext>
            </a:extLst>
          </p:cNvPr>
          <p:cNvSpPr txBox="1"/>
          <p:nvPr/>
        </p:nvSpPr>
        <p:spPr>
          <a:xfrm>
            <a:off x="772885" y="1242927"/>
            <a:ext cx="102978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Support points aim to represent the </a:t>
            </a:r>
            <a:r>
              <a:rPr lang="en-US" altLang="zh-TW" b="1" dirty="0"/>
              <a:t>overall distribution</a:t>
            </a:r>
            <a:r>
              <a:rPr lang="en-US" altLang="zh-TW" dirty="0"/>
              <a:t> of profiles using only a small number of representative points, rather than discovering latent clusters. Each original profile is later assigned to its nearest support point only for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The method minimizes the </a:t>
            </a:r>
            <a:r>
              <a:rPr lang="en-US" altLang="zh-TW" b="1" dirty="0"/>
              <a:t>energy distance</a:t>
            </a:r>
            <a:r>
              <a:rPr lang="en-US" altLang="zh-TW" dirty="0"/>
              <a:t> between the full data distribution and the empirical distribution formed by the selected support points.</a:t>
            </a:r>
            <a:endParaRPr lang="en-US" altLang="zh-TW" b="1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62D51177-8A9F-BE04-4B00-0B74D993A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85" y="2739986"/>
            <a:ext cx="3853543" cy="290544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投影片縮放 5">
                <a:extLst>
                  <a:ext uri="{FF2B5EF4-FFF2-40B4-BE49-F238E27FC236}">
                    <a16:creationId xmlns:a16="http://schemas.microsoft.com/office/drawing/2014/main" id="{48D06262-C984-9198-14D1-085CA99360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0885574"/>
                  </p:ext>
                </p:extLst>
              </p:nvPr>
            </p:nvGraphicFramePr>
            <p:xfrm>
              <a:off x="4263118" y="368764"/>
              <a:ext cx="1436915" cy="808265"/>
            </p:xfrm>
            <a:graphic>
              <a:graphicData uri="http://schemas.microsoft.com/office/powerpoint/2016/slidezoom">
                <pslz:sldZm>
                  <pslz:sldZmObj sldId="265" cId="2951795262">
                    <pslz:zmPr id="{00EE28D0-872B-4A69-9900-A72B459BE88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36915" cy="8082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投影片縮放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8D06262-C984-9198-14D1-085CA99360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3118" y="368764"/>
                <a:ext cx="1436915" cy="80826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6FCD9D73-6434-8D4B-9538-1BE440A7824D}"/>
              </a:ext>
            </a:extLst>
          </p:cNvPr>
          <p:cNvSpPr txBox="1"/>
          <p:nvPr/>
        </p:nvSpPr>
        <p:spPr>
          <a:xfrm>
            <a:off x="3816804" y="60987"/>
            <a:ext cx="2409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Representative support points 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5F9A19-E1A9-84A7-CA00-DFBC01517941}"/>
              </a:ext>
            </a:extLst>
          </p:cNvPr>
          <p:cNvSpPr txBox="1"/>
          <p:nvPr/>
        </p:nvSpPr>
        <p:spPr>
          <a:xfrm>
            <a:off x="5324070" y="5555066"/>
            <a:ext cx="6435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This objective balances two goals:</a:t>
            </a:r>
            <a:r>
              <a:rPr lang="zh-TW" altLang="en-US" dirty="0"/>
              <a:t> </a:t>
            </a:r>
            <a:r>
              <a:rPr lang="en-US" altLang="zh-TW" dirty="0"/>
              <a:t>keep the support points close to the data distribution,</a:t>
            </a:r>
            <a:r>
              <a:rPr lang="zh-TW" altLang="en-US" dirty="0"/>
              <a:t> </a:t>
            </a:r>
            <a:r>
              <a:rPr lang="en-US" altLang="zh-TW" dirty="0"/>
              <a:t>keep them spread out to avoid redundancy.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1AB7E58-4C98-70E1-D4E2-6A35295961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9" t="33460"/>
          <a:stretch>
            <a:fillRect/>
          </a:stretch>
        </p:blipFill>
        <p:spPr>
          <a:xfrm>
            <a:off x="5529943" y="4586205"/>
            <a:ext cx="5827677" cy="92546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6851C16D-DA50-CF63-B10C-8A79937AE0A3}"/>
              </a:ext>
            </a:extLst>
          </p:cNvPr>
          <p:cNvSpPr txBox="1"/>
          <p:nvPr/>
        </p:nvSpPr>
        <p:spPr>
          <a:xfrm>
            <a:off x="1136196" y="5678177"/>
            <a:ext cx="3540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Figure 6. Ten support points summarizing temperature and salinity profiles across depth.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BF2C3CA-CA7C-3C69-8521-BA93CC9369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422" y="2983613"/>
            <a:ext cx="4618059" cy="133923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投影片縮放 18">
                <a:extLst>
                  <a:ext uri="{FF2B5EF4-FFF2-40B4-BE49-F238E27FC236}">
                    <a16:creationId xmlns:a16="http://schemas.microsoft.com/office/drawing/2014/main" id="{DB27A7BC-299A-1CDD-2D42-AF0C7DDABB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7776465"/>
                  </p:ext>
                </p:extLst>
              </p:nvPr>
            </p:nvGraphicFramePr>
            <p:xfrm>
              <a:off x="6864803" y="401713"/>
              <a:ext cx="1436915" cy="808265"/>
            </p:xfrm>
            <a:graphic>
              <a:graphicData uri="http://schemas.microsoft.com/office/powerpoint/2016/slidezoom">
                <pslz:sldZm>
                  <pslz:sldZmObj sldId="268" cId="136172070">
                    <pslz:zmPr id="{E0579412-FA0B-4633-85BE-6CE8E66DA9FF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36915" cy="8082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投影片縮放 1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B27A7BC-299A-1CDD-2D42-AF0C7DDABB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64803" y="401713"/>
                <a:ext cx="1436915" cy="80826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EDF6A7CA-F764-6FD3-A3EE-7AEF0506BE3A}"/>
              </a:ext>
            </a:extLst>
          </p:cNvPr>
          <p:cNvSpPr txBox="1"/>
          <p:nvPr/>
        </p:nvSpPr>
        <p:spPr>
          <a:xfrm>
            <a:off x="6475604" y="100447"/>
            <a:ext cx="2215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Stability of Supports Points</a:t>
            </a:r>
          </a:p>
        </p:txBody>
      </p:sp>
    </p:spTree>
    <p:extLst>
      <p:ext uri="{BB962C8B-B14F-4D97-AF65-F5344CB8AC3E}">
        <p14:creationId xmlns:p14="http://schemas.microsoft.com/office/powerpoint/2010/main" val="341292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0DC3EF-3270-68BD-95A5-50077337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09A8E-3B1D-46EB-F4B9-BB7E9C7A0A5A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Support Points - Effectiveness</a:t>
            </a: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F2BC610-5953-44F9-419E-9519BF69CC76}"/>
              </a:ext>
            </a:extLst>
          </p:cNvPr>
          <p:cNvGrpSpPr/>
          <p:nvPr/>
        </p:nvGrpSpPr>
        <p:grpSpPr>
          <a:xfrm>
            <a:off x="261255" y="1511419"/>
            <a:ext cx="8708574" cy="4312437"/>
            <a:chOff x="696686" y="1152192"/>
            <a:chExt cx="10121546" cy="4764236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A52F6EFE-02AA-1ECA-A7EA-F740204F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686" y="1152192"/>
              <a:ext cx="5268685" cy="4764236"/>
            </a:xfrm>
            <a:prstGeom prst="rect">
              <a:avLst/>
            </a:prstGeom>
          </p:spPr>
        </p:pic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AA7972B1-9575-44C1-8FBC-871D62902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372"/>
            <a:stretch>
              <a:fillRect/>
            </a:stretch>
          </p:blipFill>
          <p:spPr>
            <a:xfrm>
              <a:off x="6096000" y="1152192"/>
              <a:ext cx="4722232" cy="4764236"/>
            </a:xfrm>
            <a:prstGeom prst="rect">
              <a:avLst/>
            </a:prstGeom>
          </p:spPr>
        </p:pic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C2EF49A-E7E0-D293-CE8B-C29E0551CBC6}"/>
              </a:ext>
            </a:extLst>
          </p:cNvPr>
          <p:cNvSpPr txBox="1"/>
          <p:nvPr/>
        </p:nvSpPr>
        <p:spPr>
          <a:xfrm>
            <a:off x="9082223" y="1959477"/>
            <a:ext cx="28847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Geographic distribution of support points for temperature and salinity.</a:t>
            </a:r>
          </a:p>
          <a:p>
            <a:br>
              <a:rPr lang="en-US" altLang="zh-TW" dirty="0"/>
            </a:br>
            <a:r>
              <a:rPr lang="en-US" altLang="zh-TW" dirty="0"/>
              <a:t>These support points serve as representative profiles selected from the full dataset, and their broad spatial coverage indicates that the reduced sample retains the dominant regional patterns of variability.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951795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A9BDF3-EB6C-0959-D464-928433B1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5C9D89-88AD-5583-A101-279C2F80BC7E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Support Points - Stability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BC14100-08D7-0285-19D3-9A64ADF7C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867812"/>
              </p:ext>
            </p:extLst>
          </p:nvPr>
        </p:nvGraphicFramePr>
        <p:xfrm>
          <a:off x="261256" y="1346700"/>
          <a:ext cx="11669488" cy="4404086"/>
        </p:xfrm>
        <a:graphic>
          <a:graphicData uri="http://schemas.openxmlformats.org/drawingml/2006/table">
            <a:tbl>
              <a:tblPr/>
              <a:tblGrid>
                <a:gridCol w="3060651">
                  <a:extLst>
                    <a:ext uri="{9D8B030D-6E8A-4147-A177-3AD203B41FA5}">
                      <a16:colId xmlns:a16="http://schemas.microsoft.com/office/drawing/2014/main" val="2677575463"/>
                    </a:ext>
                  </a:extLst>
                </a:gridCol>
                <a:gridCol w="1816877">
                  <a:extLst>
                    <a:ext uri="{9D8B030D-6E8A-4147-A177-3AD203B41FA5}">
                      <a16:colId xmlns:a16="http://schemas.microsoft.com/office/drawing/2014/main" val="3737284458"/>
                    </a:ext>
                  </a:extLst>
                </a:gridCol>
                <a:gridCol w="1743716">
                  <a:extLst>
                    <a:ext uri="{9D8B030D-6E8A-4147-A177-3AD203B41FA5}">
                      <a16:colId xmlns:a16="http://schemas.microsoft.com/office/drawing/2014/main" val="580183528"/>
                    </a:ext>
                  </a:extLst>
                </a:gridCol>
                <a:gridCol w="1731522">
                  <a:extLst>
                    <a:ext uri="{9D8B030D-6E8A-4147-A177-3AD203B41FA5}">
                      <a16:colId xmlns:a16="http://schemas.microsoft.com/office/drawing/2014/main" val="986661913"/>
                    </a:ext>
                  </a:extLst>
                </a:gridCol>
                <a:gridCol w="1743716">
                  <a:extLst>
                    <a:ext uri="{9D8B030D-6E8A-4147-A177-3AD203B41FA5}">
                      <a16:colId xmlns:a16="http://schemas.microsoft.com/office/drawing/2014/main" val="2087061085"/>
                    </a:ext>
                  </a:extLst>
                </a:gridCol>
                <a:gridCol w="1573006">
                  <a:extLst>
                    <a:ext uri="{9D8B030D-6E8A-4147-A177-3AD203B41FA5}">
                      <a16:colId xmlns:a16="http://schemas.microsoft.com/office/drawing/2014/main" val="3235435296"/>
                    </a:ext>
                  </a:extLst>
                </a:gridCol>
              </a:tblGrid>
              <a:tr h="429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08671"/>
                  </a:ext>
                </a:extLst>
              </a:tr>
              <a:tr h="75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 points vs. full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0.5561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0.0098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0.5422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0.5544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0.5664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050378"/>
                  </a:ext>
                </a:extLst>
              </a:tr>
              <a:tr h="1074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/>
                        <a:t>Random 10 profiles vs. full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4.3228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1.7852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2.3870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4.7139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6.1015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43840"/>
                  </a:ext>
                </a:extLst>
              </a:tr>
              <a:tr h="1074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Support-point set vs. support-point 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0.6870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0.1776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0.3671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0.7346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0.9419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91414"/>
                  </a:ext>
                </a:extLst>
              </a:tr>
              <a:tr h="1074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subset vs. random subset (Baseline)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6.9139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4.6339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3.0690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5.1906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14.4008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1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72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9E64-BE70-A277-5CC1-24DF3595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C64FE8-10F8-9D9D-B470-3CCFA4C8855D}"/>
              </a:ext>
            </a:extLst>
          </p:cNvPr>
          <p:cNvSpPr txBox="1">
            <a:spLocks/>
          </p:cNvSpPr>
          <p:nvPr/>
        </p:nvSpPr>
        <p:spPr>
          <a:xfrm>
            <a:off x="261255" y="254336"/>
            <a:ext cx="9895115" cy="89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accent1">
                    <a:lumMod val="75000"/>
                  </a:schemeClr>
                </a:solidFill>
              </a:rPr>
              <a:t>Findings &amp; Discussion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C038EF2-E0E7-2298-8CE9-8140BD6CA341}"/>
              </a:ext>
            </a:extLst>
          </p:cNvPr>
          <p:cNvSpPr txBox="1"/>
          <p:nvPr/>
        </p:nvSpPr>
        <p:spPr>
          <a:xfrm>
            <a:off x="364671" y="1043333"/>
            <a:ext cx="114626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dominant temperature contrast in the Pacific is a </a:t>
            </a:r>
            <a:r>
              <a:rPr lang="en-US" altLang="zh-TW" sz="2400" b="1" dirty="0"/>
              <a:t>surface-intensified warm–cold gradient</a:t>
            </a:r>
            <a:r>
              <a:rPr lang="en-US" altLang="zh-TW" sz="2400" dirty="0"/>
              <a:t>, separating tropical/subtropical waters from high-latitude waters.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Salinity variability is driven less by an overall fresh–salty shift and more by </a:t>
            </a:r>
            <a:r>
              <a:rPr lang="en-US" altLang="zh-TW" sz="2400" b="1" dirty="0"/>
              <a:t>differences in upper-to-intermediate vertical stratification</a:t>
            </a:r>
            <a:r>
              <a:rPr lang="en-US" altLang="zh-TW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Temperature and salinity are strongly coupled at basin scale, indicating a coherent large-scale ocean structure rather than independent variation.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Latitude explains temperature profiles more strongly than salinity profiles, especially in the </a:t>
            </a:r>
            <a:r>
              <a:rPr lang="en-US" altLang="zh-TW" sz="2400" b="1" dirty="0"/>
              <a:t>upper and middle ocean.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Extreme profiles are </a:t>
            </a:r>
            <a:r>
              <a:rPr lang="en-US" altLang="zh-TW" sz="2400" b="1" dirty="0"/>
              <a:t>geographically clustered</a:t>
            </a:r>
            <a:r>
              <a:rPr lang="en-US" altLang="zh-TW" sz="2400" dirty="0"/>
              <a:t>,</a:t>
            </a:r>
            <a:r>
              <a:rPr lang="en-US" altLang="zh-TW" sz="2400" b="1" dirty="0"/>
              <a:t> </a:t>
            </a:r>
            <a:r>
              <a:rPr lang="en-US" altLang="zh-TW" sz="2400" dirty="0"/>
              <a:t>suggesting meaningful regional anomalies rather than random noise; salinity outliers are especially pronounced.</a:t>
            </a:r>
          </a:p>
        </p:txBody>
      </p:sp>
    </p:spTree>
    <p:extLst>
      <p:ext uri="{BB962C8B-B14F-4D97-AF65-F5344CB8AC3E}">
        <p14:creationId xmlns:p14="http://schemas.microsoft.com/office/powerpoint/2010/main" val="3280579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6E16C-CF57-5785-139D-876176CA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4174FA-C328-2D31-39EF-C5B32C4C2E94}"/>
              </a:ext>
            </a:extLst>
          </p:cNvPr>
          <p:cNvSpPr txBox="1"/>
          <p:nvPr/>
        </p:nvSpPr>
        <p:spPr>
          <a:xfrm>
            <a:off x="1097280" y="758952"/>
            <a:ext cx="10058400" cy="38921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80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78285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3143</TotalTime>
  <Words>3516</Words>
  <Application>Microsoft Office PowerPoint</Application>
  <PresentationFormat>寬螢幕</PresentationFormat>
  <Paragraphs>236</Paragraphs>
  <Slides>18</Slides>
  <Notes>17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Cambria Math</vt:lpstr>
      <vt:lpstr>Wingdings</vt:lpstr>
      <vt:lpstr>回顧</vt:lpstr>
      <vt:lpstr> STATS 504 – Memo 5  Spatial Variations in Global Ocean Profiles:  A Multivariate Statistical Approach using ARGO Data  Oscar Shih  March 30, 2026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皓鈞 施</dc:creator>
  <cp:lastModifiedBy>皓鈞 施</cp:lastModifiedBy>
  <cp:revision>194</cp:revision>
  <dcterms:created xsi:type="dcterms:W3CDTF">2026-03-23T18:27:43Z</dcterms:created>
  <dcterms:modified xsi:type="dcterms:W3CDTF">2026-03-30T14:43:01Z</dcterms:modified>
</cp:coreProperties>
</file>